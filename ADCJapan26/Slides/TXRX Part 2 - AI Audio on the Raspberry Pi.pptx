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dia/svg_29d2e67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20"/>
  </p:notesMasterIdLst>
  <p:handoutMasterIdLst>
    <p:handoutMasterId r:id="rId21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11"/>
    <p:sldId id="265" r:id="rId10"/>
    <p:sldId id="266" r:id="rId9"/>
    <p:sldId id="267" r:id="rId8"/>
    <p:sldId id="268" r:id="rId7"/>
    <p:sldId id="269" r:id="rId6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buFont typeface="Arial" panose="020B0604020202020204" pitchFamily="34" charset="0"/>
      <a:buNone/>
      <a:defRPr sz="1800" kern="1200">
        <a:solidFill>
          <a:schemeClr val="tx1"/>
        </a:solidFill>
        <a:latin typeface="+mj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 typeface="Wingdings" panose="05000000000000000000" pitchFamily="2" charset="2"/>
      <a:buNone/>
      <a:defRPr sz="1400" kern="1200">
        <a:solidFill>
          <a:schemeClr val="tx1"/>
        </a:solidFill>
        <a:latin typeface="+mj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olkit" id="{81BCC84D-6C57-465D-904D-044E20420B3C}">
          <p14:sldIdLst>
            <p14:sldId id="304"/>
            <p14:sldId id="344"/>
          </p14:sldIdLst>
        </p14:section>
        <p14:section name="Master Layouts | Light" id="{E45C5319-8C0D-42C0-AD16-035793377066}">
          <p14:sldIdLst>
            <p14:sldId id="345"/>
            <p14:sldId id="313"/>
            <p14:sldId id="350"/>
            <p14:sldId id="295"/>
            <p14:sldId id="258"/>
            <p14:sldId id="262"/>
          </p14:sldIdLst>
        </p14:section>
        <p14:section name="Master Layouts | Dark" id="{B4206B58-247D-4C4D-BDA1-D7499ADE5F28}">
          <p14:sldIdLst>
            <p14:sldId id="346"/>
            <p14:sldId id="320"/>
            <p14:sldId id="349"/>
            <p14:sldId id="327"/>
            <p14:sldId id="329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6334807-E537-4099-9411-48B81318F7D4}">
  <a:tblStyle styleId="{C6334807-E537-4099-9411-48B81318F7D4}" styleName="QNX Table - Light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963D177F-057A-4F7D-8082-B162180BF664}" styleName="QNX Table - Dark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46" autoAdjust="0"/>
    <p:restoredTop sz="94690" autoAdjust="0"/>
  </p:normalViewPr>
  <p:slideViewPr>
    <p:cSldViewPr showGuides="1">
      <p:cViewPr>
        <p:scale>
          <a:sx n="75" d="100"/>
          <a:sy n="75" d="100"/>
        </p:scale>
        <p:origin x="179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1382"/>
    </p:cViewPr>
  </p:sorterViewPr>
  <p:notesViewPr>
    <p:cSldViewPr showGuides="1">
      <p:cViewPr varScale="1">
        <p:scale>
          <a:sx n="78" d="100"/>
          <a:sy n="78" d="100"/>
        </p:scale>
        <p:origin x="3108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9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5320D358-F853-4E66-A71E-3A9A01236113}" type="datetimeFigureOut">
              <a:rPr lang="de-DE" sz="800" smtClean="0"/>
              <a:t>11.07.2025</a:t>
            </a:fld>
            <a:endParaRPr lang="de-DE" sz="8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pPr algn="r"/>
            <a:endParaRPr lang="de-DE" sz="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E5BBCCF6-F8A8-4C49-BF3D-CA1AA74CA975}" type="slidenum">
              <a:rPr lang="de-DE" sz="800" smtClean="0"/>
              <a:t>‹Nr.›</a:t>
            </a:fld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 dirty="0"/>
              <a:t>First list level: Large body text in 14 pt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body text in 14 pt</a:t>
            </a:r>
          </a:p>
          <a:p>
            <a:pPr lvl="5"/>
            <a:r>
              <a:rPr lang="en-GB" dirty="0"/>
              <a:t>6th level, subheading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</a:t>
            </a:r>
            <a:r>
              <a:rPr lang="sv-SE" dirty="0"/>
              <a:t>2. bullet list in 10 pt</a:t>
            </a:r>
            <a:endParaRPr lang="en-GB" dirty="0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5320D358-F853-4E66-A71E-3A9A01236113}" type="datetimeFigureOut">
              <a:rPr lang="de-DE" smtClean="0"/>
              <a:pPr/>
              <a:t>11.07.2025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/>
            </a:lvl1pPr>
          </a:lstStyle>
          <a:p>
            <a:pPr algn="r"/>
            <a:endParaRPr lang="de-DE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E5BBCCF6-F8A8-4C49-BF3D-CA1AA74CA97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defRPr sz="1800" b="1" kern="1200">
        <a:solidFill>
          <a:schemeClr val="tx1"/>
        </a:solidFill>
        <a:latin typeface="+mn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Tx/>
      <a:buNone/>
      <a:defRPr sz="1400" b="1" kern="1200">
        <a:solidFill>
          <a:schemeClr val="tx1"/>
        </a:solidFill>
        <a:latin typeface="+mn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1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8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1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9.png"/><Relationship Id="rId5" Type="http://schemas.openxmlformats.org/officeDocument/2006/relationships/image" Target="../media/image11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9.png"/><Relationship Id="rId5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 dirty="0"/>
              <a:t>Optional subtitle, use list level 2 to add a date</a:t>
            </a:r>
          </a:p>
          <a:p>
            <a:pPr lvl="1"/>
            <a:r>
              <a:rPr lang="en-GB" dirty="0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2400" y="6525360"/>
            <a:ext cx="230376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 dirty="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2025</a:t>
            </a:fld>
            <a:r>
              <a:rPr lang="en-GB" sz="700" dirty="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 dirty="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 dirty="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9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 dirty="0"/>
              <a:t>Optional subtitle, use list level 2 to add a date</a:t>
            </a:r>
          </a:p>
          <a:p>
            <a:pPr lvl="1"/>
            <a:r>
              <a:rPr lang="en-GB" dirty="0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 dirty="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2025</a:t>
            </a:fld>
            <a:r>
              <a:rPr lang="en-GB" sz="700" dirty="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 dirty="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 dirty="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748590-F732-D074-F771-EDEC6F004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18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56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52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 dirty="0"/>
              <a:t>Optional subtitle, use list level 2 to add a date</a:t>
            </a:r>
          </a:p>
          <a:p>
            <a:pPr lvl="1"/>
            <a:r>
              <a:rPr lang="en-GB" dirty="0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F0C95E3C-E453-EAA2-DD4F-8F0D94035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40FAEA-3B2F-6191-ABB6-8D4D40B0A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BBF7F25-DEE3-0131-6327-0A0331253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>© 2025 BlackBerry Limited.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196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  <p15:guide id="6" pos="7287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 dirty="0"/>
              <a:t>Optional subtitle, use list level 2 to add a date</a:t>
            </a:r>
          </a:p>
          <a:p>
            <a:pPr lvl="1"/>
            <a:r>
              <a:rPr lang="en-GB" dirty="0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27FF72FB-FAEC-99C2-2194-2B5F63518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 dirty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E161A-D4C0-A4C6-91D2-EC09DE9E6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>© 2025 BlackBerry Limited.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148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 dirty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 dirty="0"/>
              <a:t>Optional subtitle, use list level 2 to add a date</a:t>
            </a:r>
          </a:p>
          <a:p>
            <a:pPr lvl="1"/>
            <a:r>
              <a:rPr lang="en-GB" dirty="0"/>
              <a:t>Date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CCC5F4-A1E7-48AD-5FE3-75380A819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030E40-4DFB-A3E0-8913-CCD465AE7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BlackBerry Limited.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04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51088" y="1773237"/>
            <a:ext cx="4607737" cy="4464075"/>
          </a:xfr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Add agenda topics, for subtopic use list level 2</a:t>
            </a:r>
          </a:p>
          <a:p>
            <a:pPr lvl="1"/>
            <a:r>
              <a:rPr lang="en-GB" dirty="0"/>
              <a:t>Chapter title</a:t>
            </a:r>
          </a:p>
          <a:p>
            <a:pPr lvl="2"/>
            <a:r>
              <a:rPr lang="en-GB" dirty="0"/>
              <a:t>Subtitle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  <a:p>
            <a:pPr lvl="3"/>
            <a:endParaRPr lang="en-GB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535864" y="1773782"/>
            <a:ext cx="4032250" cy="4464075"/>
          </a:xfr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Add presenter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09590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351584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 dirty="0"/>
              <a:t>List level 1 chapter number, for chapter title and subtitles use list level 2 and 3</a:t>
            </a:r>
          </a:p>
          <a:p>
            <a:pPr lvl="1"/>
            <a:r>
              <a:rPr lang="en-GB" dirty="0"/>
              <a:t>Chapter title</a:t>
            </a:r>
          </a:p>
          <a:p>
            <a:pPr lvl="2"/>
            <a:r>
              <a:rPr lang="en-GB" dirty="0"/>
              <a:t>Subtitle</a:t>
            </a:r>
          </a:p>
          <a:p>
            <a:pPr lvl="3"/>
            <a:endParaRPr lang="en-GB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7536608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 dirty="0"/>
              <a:t>List level 1 chapter number, for chapter title and subtitles use list level 2 and 3</a:t>
            </a:r>
          </a:p>
          <a:p>
            <a:pPr lvl="1"/>
            <a:r>
              <a:rPr lang="en-GB" dirty="0"/>
              <a:t>Chapter title</a:t>
            </a:r>
          </a:p>
          <a:p>
            <a:pPr lvl="2"/>
            <a:r>
              <a:rPr lang="en-GB" dirty="0"/>
              <a:t>Subtitle</a:t>
            </a:r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85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56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Chapter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FC2E49D-109D-F674-5122-39F1FB910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>© 2025 BlackBerry Limited. All rights reserved.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2139AD-2954-FBFD-3079-17BBEB9E2E8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296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7649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112125" y="0"/>
            <a:ext cx="4079875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8"/>
            <a:ext cx="6911991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7AF223A-9133-4CD7-A24F-37E750D20428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 dirty="0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 dirty="0"/>
              <a:t>2nd level, subheading in 14 pt</a:t>
            </a:r>
          </a:p>
          <a:p>
            <a:pPr lvl="2"/>
            <a:r>
              <a:rPr lang="en-GB" dirty="0"/>
              <a:t>3rd level, 1. bullet list in 10 pt</a:t>
            </a:r>
          </a:p>
          <a:p>
            <a:pPr lvl="3"/>
            <a:r>
              <a:rPr lang="en-GB" dirty="0"/>
              <a:t>4th level, 2. bullet list in 10 pt</a:t>
            </a:r>
          </a:p>
          <a:p>
            <a:pPr lvl="4"/>
            <a:r>
              <a:rPr lang="en-GB" dirty="0"/>
              <a:t>5th level, 3. bullet list in 10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 dirty="0">
                <a:solidFill>
                  <a:srgbClr val="8F8F8B"/>
                </a:solidFill>
                <a:latin typeface="Onest" pitchFamily="2" charset="0"/>
              </a:rPr>
              <a:t>© 2025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>
            <a:extLst>
              <a:ext uri="{FF2B5EF4-FFF2-40B4-BE49-F238E27FC236}">
                <a16:creationId xmlns:a16="http://schemas.microsoft.com/office/drawing/2014/main" id="{A6D92AC3-90E1-30AB-3D66-CED09E8EC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87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5184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6383338" y="1773238"/>
            <a:ext cx="518477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83157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3240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4476240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8328608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7090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2304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350371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638403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gray">
          <a:xfrm>
            <a:off x="9263118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12882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345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232400" y="1773238"/>
            <a:ext cx="6335713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60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960096" y="1773238"/>
            <a:ext cx="4608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3392" y="620713"/>
            <a:ext cx="5184000" cy="5616575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4022514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3872" y="1773238"/>
            <a:ext cx="10944241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507138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6953-2E70-0688-8FC9-8BB3D6019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en-US"/>
              <a:t>© 2025 BlackBerry Limited. All rights reserved.</a:t>
            </a:r>
            <a:endParaRPr lang="en-US" dirty="0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60375E9F-1DDA-9293-C3FF-E9BF4840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 dirty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Add a message aligned to the left or right side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E7A0F38-1378-F695-38F8-206336A8527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2635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 dirty="0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 dirty="0"/>
              <a:t>Add an important statement</a:t>
            </a:r>
          </a:p>
          <a:p>
            <a:pPr lvl="1"/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92158078-B084-7032-049C-D8E684B4C9E1}"/>
              </a:ext>
            </a:extLst>
          </p:cNvPr>
          <p:cNvSpPr/>
          <p:nvPr userDrawn="1"/>
        </p:nvSpPr>
        <p:spPr bwMode="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B7ACAED-396E-E25D-4F15-E1673FF66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3899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 dirty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959599" y="3284984"/>
            <a:ext cx="3457575" cy="2952000"/>
          </a:xfr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 err="1"/>
              <a:t>Jobtitle</a:t>
            </a:r>
            <a:endParaRPr lang="en-GB" dirty="0"/>
          </a:p>
          <a:p>
            <a:pPr lvl="2"/>
            <a:r>
              <a:rPr lang="en-GB" dirty="0"/>
              <a:t>Contact data</a:t>
            </a:r>
          </a:p>
          <a:p>
            <a:pPr lvl="3"/>
            <a:endParaRPr lang="en-GB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959600" y="620712"/>
            <a:ext cx="3457575" cy="230400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488C-A96B-B4B3-DB18-1F5E65734A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4F607-54F9-CE0E-66F1-C7A641F759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64BB849-B7FC-3952-913B-F400FD508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en-US"/>
              <a:t>© 2025 BlackBerry Limited. All rights reserved.</a:t>
            </a:r>
            <a:endParaRPr lang="en-US" dirty="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C2EB24EB-2820-8054-D726-2EC0B4AC5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16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 dirty="0"/>
              <a:t>Optional subtitle, use list level 2 to add a date</a:t>
            </a:r>
          </a:p>
          <a:p>
            <a:pPr lvl="1"/>
            <a:r>
              <a:rPr lang="en-GB" dirty="0"/>
              <a:t>Date</a:t>
            </a:r>
          </a:p>
          <a:p>
            <a:pPr lvl="2"/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 dirty="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2025</a:t>
            </a:fld>
            <a:r>
              <a:rPr lang="en-GB" sz="700" dirty="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 dirty="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 dirty="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1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 dirty="0"/>
              <a:t>Optional subtitle, use list level 2 to add a date</a:t>
            </a:r>
          </a:p>
          <a:p>
            <a:pPr lvl="1"/>
            <a:r>
              <a:rPr lang="en-GB" dirty="0"/>
              <a:t>Date</a:t>
            </a:r>
          </a:p>
          <a:p>
            <a:pPr lvl="2"/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 dirty="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2025</a:t>
            </a:fld>
            <a:r>
              <a:rPr lang="en-GB" sz="700" dirty="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 dirty="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 dirty="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AABD0FE-C518-0C23-6BFE-D56030024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7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2132856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3861152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 dirty="0"/>
              <a:t>Optional subtitle, use list level 2 to add a date</a:t>
            </a:r>
          </a:p>
          <a:p>
            <a:pPr lvl="1"/>
            <a:r>
              <a:rPr lang="en-GB" dirty="0"/>
              <a:t>Date</a:t>
            </a:r>
          </a:p>
          <a:p>
            <a:pPr lvl="2"/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C9DEBE27-D875-6FA1-857C-1FAFA560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92882950-AB80-98BF-7E6A-936E99E2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C13325-40B9-01EA-C2FA-F76B8EC5C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© 2025 BlackBerry Limited.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70252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r>
              <a:rPr lang="en-GB" dirty="0"/>
              <a:t>Optional subtitle, use list level 2 to add a date</a:t>
            </a:r>
          </a:p>
          <a:p>
            <a:pPr lvl="1"/>
            <a:r>
              <a:rPr lang="en-GB" dirty="0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23392" y="620689"/>
            <a:ext cx="1080000" cy="3744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A8677481-6FD1-2F5C-6EC4-6BF3EDB4D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 dirty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CB178-9747-A446-6D94-F3C351A39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>© 2025 BlackBerry Limited.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169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2886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prstGeom prst="rect">
            <a:avLst/>
          </a:prstGeo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 dirty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 dirty="0"/>
              <a:t>Optional subtitle, use list level 2 to add a date</a:t>
            </a:r>
          </a:p>
          <a:p>
            <a:pPr lvl="1"/>
            <a:r>
              <a:rPr lang="en-GB" dirty="0"/>
              <a:t>Date</a:t>
            </a:r>
          </a:p>
          <a:p>
            <a:pPr lvl="2"/>
            <a:endParaRPr lang="en-GB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7FF38C0-2225-C9AC-B499-DE83DC535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2025 BlackBerry Limited.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0437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0666" y="1773237"/>
            <a:ext cx="4607737" cy="4464075"/>
          </a:xfrm>
          <a:prstGeom prst="rect">
            <a:avLst/>
          </a:prstGeo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Add agenda topics, for subtopic use list level 2</a:t>
            </a:r>
          </a:p>
          <a:p>
            <a:pPr lvl="1"/>
            <a:r>
              <a:rPr lang="en-GB" dirty="0"/>
              <a:t>Chapter title</a:t>
            </a:r>
          </a:p>
          <a:p>
            <a:pPr lvl="2"/>
            <a:r>
              <a:rPr lang="en-GB" dirty="0"/>
              <a:t>Subtitle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  <a:p>
            <a:pPr lvl="3"/>
            <a:endParaRPr lang="en-GB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5441" y="1773782"/>
            <a:ext cx="4032671" cy="4464075"/>
          </a:xfrm>
          <a:prstGeom prst="rect">
            <a:avLst/>
          </a:prstGeo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Add presenter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13180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 userDrawn="1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1584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 dirty="0"/>
              <a:t>List level 1 chapter number, for chapter title and subtitles use list level 2 and 3</a:t>
            </a:r>
          </a:p>
          <a:p>
            <a:pPr lvl="1"/>
            <a:r>
              <a:rPr lang="en-GB" dirty="0"/>
              <a:t>Chapter title</a:t>
            </a:r>
          </a:p>
          <a:p>
            <a:pPr lvl="2"/>
            <a:r>
              <a:rPr lang="en-GB" dirty="0"/>
              <a:t>Subtitle</a:t>
            </a:r>
          </a:p>
          <a:p>
            <a:pPr lvl="3"/>
            <a:endParaRPr lang="en-GB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6608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 dirty="0"/>
              <a:t>List level 1 chapter number, for chapter title and subtitles use list level 2 and 3</a:t>
            </a:r>
          </a:p>
          <a:p>
            <a:pPr lvl="1"/>
            <a:r>
              <a:rPr lang="en-GB" dirty="0"/>
              <a:t>Chapter title</a:t>
            </a:r>
          </a:p>
          <a:p>
            <a:pPr lvl="2"/>
            <a:r>
              <a:rPr lang="en-GB" dirty="0"/>
              <a:t>Subtitle</a:t>
            </a:r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559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75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Chapter title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2444A59-A11B-D30A-1AD5-AC8EE097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© 2025 BlackBerry Limited. All rights reserved.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4F16516-D1AC-3BC8-1379-009675728DA7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1602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7"/>
            <a:ext cx="10944224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08833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8112125" y="0"/>
            <a:ext cx="4079875" cy="6858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8"/>
            <a:ext cx="6911991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 dirty="0">
                <a:solidFill>
                  <a:srgbClr val="8F8F8B"/>
                </a:solidFill>
                <a:latin typeface="Onest" pitchFamily="2" charset="0"/>
              </a:rPr>
              <a:t>© 2025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937084-D812-3A4B-EA94-E25321C213CE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 dirty="0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 dirty="0"/>
              <a:t>2nd level, subheading in 14 pt</a:t>
            </a:r>
          </a:p>
          <a:p>
            <a:pPr lvl="2"/>
            <a:r>
              <a:rPr lang="en-GB" dirty="0"/>
              <a:t>3rd level, 1. bullet list in 10 pt</a:t>
            </a:r>
          </a:p>
          <a:p>
            <a:pPr lvl="3"/>
            <a:r>
              <a:rPr lang="en-GB" dirty="0"/>
              <a:t>4th level, 2. bullet list in 10 pt</a:t>
            </a:r>
          </a:p>
          <a:p>
            <a:pPr lvl="4"/>
            <a:r>
              <a:rPr lang="en-GB" dirty="0"/>
              <a:t>5th level, 3. bullet list in 10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40ECC1E-161B-90A8-D9F3-B5074030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0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5184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6383338" y="1773238"/>
            <a:ext cx="5184775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442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3240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4476240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8328608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46653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2304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350371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638403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black">
          <a:xfrm>
            <a:off x="9263118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7566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3456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232400" y="1773238"/>
            <a:ext cx="6335713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3782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960096" y="1773238"/>
            <a:ext cx="4608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3392" y="620713"/>
            <a:ext cx="5184000" cy="5616575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188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3872" y="1773238"/>
            <a:ext cx="10944241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007421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8ADAD-D679-26B4-4AEF-A682620D5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en-US"/>
              <a:t>© 2025 BlackBerry Limited. All rights reserved.</a:t>
            </a:r>
            <a:endParaRPr lang="en-US" dirty="0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a message aligned to the left or right side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89324E0-1FA7-5467-7B47-C8D149B0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 dirty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227408C9-542A-5093-B41C-51761CEAF845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1976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 dirty="0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 dirty="0"/>
              <a:t>Add an important statement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1383CA07-6945-F67C-0640-B79EE219FC09}"/>
              </a:ext>
            </a:extLst>
          </p:cNvPr>
          <p:cNvSpPr/>
          <p:nvPr userDrawn="1"/>
        </p:nvSpPr>
        <p:spPr bwMode="inv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19210578-8885-4C18-A4C5-D3918EDD9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52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 dirty="0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5491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 dirty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959599" y="3284984"/>
            <a:ext cx="3457575" cy="2952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 err="1"/>
              <a:t>Jobtitle</a:t>
            </a:r>
            <a:endParaRPr lang="en-GB" dirty="0"/>
          </a:p>
          <a:p>
            <a:pPr lvl="2"/>
            <a:r>
              <a:rPr lang="en-GB" dirty="0"/>
              <a:t>Contact data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black">
          <a:xfrm>
            <a:off x="6959600" y="620712"/>
            <a:ext cx="3457575" cy="230400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GB" dirty="0"/>
              <a:t>Insert image by clicking on the icon.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7DDDF-C12F-4CD6-ABC5-E6EC2BB846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21251-1225-91AC-8267-5F50CE927D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5EADE93-A9EF-74FA-2C3E-0EAEFCA9C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en-US"/>
              <a:t>© 2025 BlackBerry Limited. All rights reserved.</a:t>
            </a:r>
            <a:endParaRPr lang="en-US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4645AC1-0063-A4BD-B5E6-1E7196D7B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4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23" Type="http://schemas.openxmlformats.org/officeDocument/2006/relationships/image" Target="../media/image1.png"/><Relationship Id="rId24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42.xml"/><Relationship Id="rId22" Type="http://schemas.openxmlformats.org/officeDocument/2006/relationships/theme" Target="../theme/theme2.xml"/><Relationship Id="rId23" Type="http://schemas.openxmlformats.org/officeDocument/2006/relationships/image" Target="../media/image9.png"/><Relationship Id="rId24" Type="http://schemas.openxmlformats.org/officeDocument/2006/relationships/image" Target="../media/image1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 dirty="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2025</a:t>
            </a:fld>
            <a:r>
              <a:rPr lang="en-GB" sz="700" dirty="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 dirty="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 dirty="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61BDE8A-2C7E-A236-1375-FE495BB9F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98" r:id="rId3"/>
    <p:sldLayoutId id="2147483673" r:id="rId4"/>
    <p:sldLayoutId id="2147483668" r:id="rId5"/>
    <p:sldLayoutId id="2147483701" r:id="rId6"/>
    <p:sldLayoutId id="2147483661" r:id="rId7"/>
    <p:sldLayoutId id="2147483651" r:id="rId8"/>
    <p:sldLayoutId id="2147483670" r:id="rId9"/>
    <p:sldLayoutId id="2147483650" r:id="rId10"/>
    <p:sldLayoutId id="2147483663" r:id="rId11"/>
    <p:sldLayoutId id="2147483652" r:id="rId12"/>
    <p:sldLayoutId id="2147483659" r:id="rId13"/>
    <p:sldLayoutId id="2147483664" r:id="rId14"/>
    <p:sldLayoutId id="2147483656" r:id="rId15"/>
    <p:sldLayoutId id="2147483671" r:id="rId16"/>
    <p:sldLayoutId id="2147483657" r:id="rId17"/>
    <p:sldLayoutId id="2147483658" r:id="rId18"/>
    <p:sldLayoutId id="2147483672" r:id="rId19"/>
    <p:sldLayoutId id="2147483654" r:id="rId20"/>
    <p:sldLayoutId id="2147483662" r:id="rId2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 dirty="0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black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 dirty="0"/>
              <a:t>2nd level, subheading in 18 pt</a:t>
            </a:r>
          </a:p>
          <a:p>
            <a:pPr lvl="2"/>
            <a:r>
              <a:rPr lang="en-GB" dirty="0"/>
              <a:t>3rd level, 1. bullet list in 14 pt</a:t>
            </a:r>
          </a:p>
          <a:p>
            <a:pPr lvl="3"/>
            <a:r>
              <a:rPr lang="en-GB" dirty="0"/>
              <a:t>4th level, 2. bullet list in 14 pt</a:t>
            </a:r>
          </a:p>
          <a:p>
            <a:pPr lvl="4"/>
            <a:r>
              <a:rPr lang="en-GB" dirty="0"/>
              <a:t>5th level, 3. bullet list in 14 pt</a:t>
            </a:r>
          </a:p>
          <a:p>
            <a:pPr lvl="5"/>
            <a:r>
              <a:rPr lang="en-GB" dirty="0"/>
              <a:t>6th level, body text in 10 pt</a:t>
            </a:r>
          </a:p>
          <a:p>
            <a:pPr lvl="6"/>
            <a:r>
              <a:rPr lang="en-GB" dirty="0"/>
              <a:t>7th level, subheading in 14 pt</a:t>
            </a:r>
          </a:p>
          <a:p>
            <a:pPr lvl="7"/>
            <a:r>
              <a:rPr lang="en-GB" dirty="0"/>
              <a:t>8th level, 1. bullet list in 10 pt</a:t>
            </a:r>
          </a:p>
          <a:p>
            <a:pPr lvl="8"/>
            <a:r>
              <a:rPr lang="en-GB" dirty="0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 dirty="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2025</a:t>
            </a:fld>
            <a:r>
              <a:rPr lang="en-GB" sz="700" dirty="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 dirty="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 dirty="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FE5AECB-59B3-7CC7-86CF-79C41D76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3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7" r:id="rId2"/>
    <p:sldLayoutId id="2147483699" r:id="rId3"/>
    <p:sldLayoutId id="2147483695" r:id="rId4"/>
    <p:sldLayoutId id="2147483679" r:id="rId5"/>
    <p:sldLayoutId id="2147483700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hyperlink" Target="https://github.com/kcoul/JUCE4Pi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svg_fb_29d2e678.png"/><Relationship Id="rId3" Type="http://schemas.openxmlformats.org/officeDocument/2006/relationships/image" Target="../media/svg_29d2e678.sv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hyperlink" Target="https://www.youtube.com/watch?v=GMlnh6_9aTc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hyperlink" Target="https://ordinarytech.ca/blogs/news/on-device-ai-in-2026-how-npus-are-transforming-ai-pcs-for-creators-and-power-users-1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hyperlink" Target="https://www.jasondasent.com/" TargetMode="External"/><Relationship Id="rId3" Type="http://schemas.openxmlformats.org/officeDocument/2006/relationships/image" Target="../media/image2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hyperlink" Target="https://github.com/kcoul" TargetMode="External"/><Relationship Id="rId3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Kieran Coulter | Principal Systems Software Developer - Audio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TX/RX Part 2:</a:t>
            </a:r>
          </a:p>
          <a:p>
            <a:r>
              <a:t>AI Audio on the Raspberry Pi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Audio Developer Conference Japan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5486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C0C0BB"/>
                </a:solidFill>
                <a:latin typeface="Onest"/>
                <a:hlinkClick r:id="rId2"/>
              </a:rPr>
              <a:t>github.com/kcoul/JUCE4Pi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pic>
        <p:nvPicPr>
          <p:cNvPr id="4" name="GENISY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79676" y="1115568"/>
            <a:ext cx="8229600" cy="46268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417320"/>
          <a:ext cx="9994392" cy="4846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20"/>
                <a:gridCol w="7891272"/>
              </a:tblGrid>
              <a:tr h="807720">
                <a:tc>
                  <a:txBody>
                    <a:bodyPr anchor="ctr"/>
                    <a:lstStyle/>
                    <a:p>
                      <a:pPr algn="r"/>
                      <a:r>
                        <a:rPr sz="1300">
                          <a:solidFill>
                            <a:srgbClr val="FF443A"/>
                          </a:solidFill>
                          <a:latin typeface="Onest"/>
                        </a:rPr>
                        <a:t>Section 1.</a:t>
                      </a:r>
                    </a:p>
                  </a:txBody>
                  <a:tcPr marR="22860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8F8F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Onest SemiBold"/>
                        </a:rPr>
                        <a:t>The Story So Far</a:t>
                      </a:r>
                    </a:p>
                  </a:txBody>
                  <a:tcPr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8F8F8B"/>
                      </a:solidFill>
                    </a:lnB>
                  </a:tcPr>
                </a:tc>
              </a:tr>
              <a:tr h="807720">
                <a:tc>
                  <a:txBody>
                    <a:bodyPr anchor="ctr"/>
                    <a:lstStyle/>
                    <a:p>
                      <a:pPr algn="r"/>
                      <a:r>
                        <a:rPr sz="1300">
                          <a:solidFill>
                            <a:srgbClr val="FF443A"/>
                          </a:solidFill>
                          <a:latin typeface="Onest"/>
                        </a:rPr>
                        <a:t>Section 2.</a:t>
                      </a:r>
                    </a:p>
                  </a:txBody>
                  <a:tcPr marR="22860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8F8F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Onest SemiBold"/>
                        </a:rPr>
                        <a:t>JUCE on QNX</a:t>
                      </a:r>
                    </a:p>
                  </a:txBody>
                  <a:tcPr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8F8F8B"/>
                      </a:solidFill>
                    </a:lnB>
                  </a:tcPr>
                </a:tc>
              </a:tr>
              <a:tr h="807720">
                <a:tc>
                  <a:txBody>
                    <a:bodyPr anchor="ctr"/>
                    <a:lstStyle/>
                    <a:p>
                      <a:pPr algn="r"/>
                      <a:r>
                        <a:rPr sz="1300">
                          <a:solidFill>
                            <a:srgbClr val="FF443A"/>
                          </a:solidFill>
                          <a:latin typeface="Onest"/>
                        </a:rPr>
                        <a:t>Section 3.</a:t>
                      </a:r>
                    </a:p>
                  </a:txBody>
                  <a:tcPr marR="22860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8F8F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Onest SemiBold"/>
                        </a:rPr>
                        <a:t>Audio on the NPU</a:t>
                      </a:r>
                    </a:p>
                  </a:txBody>
                  <a:tcPr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8F8F8B"/>
                      </a:solidFill>
                    </a:lnB>
                  </a:tcPr>
                </a:tc>
              </a:tr>
              <a:tr h="807720">
                <a:tc>
                  <a:txBody>
                    <a:bodyPr anchor="ctr"/>
                    <a:lstStyle/>
                    <a:p>
                      <a:pPr algn="r"/>
                      <a:r>
                        <a:rPr sz="1300">
                          <a:solidFill>
                            <a:srgbClr val="FF443A"/>
                          </a:solidFill>
                          <a:latin typeface="Onest"/>
                        </a:rPr>
                        <a:t>Section 4.</a:t>
                      </a:r>
                    </a:p>
                  </a:txBody>
                  <a:tcPr marR="22860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8F8F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Onest SemiBold"/>
                        </a:rPr>
                        <a:t>Developing Host-First</a:t>
                      </a:r>
                    </a:p>
                  </a:txBody>
                  <a:tcPr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8F8F8B"/>
                      </a:solidFill>
                    </a:lnB>
                  </a:tcPr>
                </a:tc>
              </a:tr>
              <a:tr h="807720">
                <a:tc>
                  <a:txBody>
                    <a:bodyPr anchor="ctr"/>
                    <a:lstStyle/>
                    <a:p>
                      <a:pPr algn="r"/>
                      <a:r>
                        <a:rPr sz="1300">
                          <a:solidFill>
                            <a:srgbClr val="FF443A"/>
                          </a:solidFill>
                          <a:latin typeface="Onest"/>
                        </a:rPr>
                        <a:t>Section 5.</a:t>
                      </a:r>
                    </a:p>
                  </a:txBody>
                  <a:tcPr marR="22860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8F8F8B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Onest SemiBold"/>
                        </a:rPr>
                        <a:t>Getting to the Target</a:t>
                      </a:r>
                    </a:p>
                  </a:txBody>
                  <a:tcPr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8F8F8B"/>
                      </a:solidFill>
                    </a:lnB>
                  </a:tcPr>
                </a:tc>
              </a:tr>
              <a:tr h="807720">
                <a:tc>
                  <a:txBody>
                    <a:bodyPr anchor="ctr"/>
                    <a:lstStyle/>
                    <a:p>
                      <a:pPr algn="r"/>
                      <a:r>
                        <a:rPr sz="1300">
                          <a:solidFill>
                            <a:srgbClr val="FF443A"/>
                          </a:solidFill>
                          <a:latin typeface="Onest"/>
                        </a:rPr>
                        <a:t>Section 6.</a:t>
                      </a:r>
                    </a:p>
                  </a:txBody>
                  <a:tcPr marR="22860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000">
                          <a:solidFill>
                            <a:srgbClr val="FFFFFF"/>
                          </a:solidFill>
                          <a:latin typeface="Onest SemiBold"/>
                        </a:rPr>
                        <a:t>From R&amp;D to Production</a:t>
                      </a:r>
                    </a:p>
                  </a:txBody>
                  <a:tcPr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Development 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339596" y="1920240"/>
            <a:ext cx="2103120" cy="658368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FFFF"/>
                </a:solidFill>
                <a:latin typeface="Onest"/>
              </a:rPr>
              <a:t>JUCE Port to QNX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9596" y="263347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C0C0BB"/>
                </a:solidFill>
                <a:latin typeface="Onest"/>
              </a:rPr>
              <a:t>SurgeXT stress test · Pi4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8476" y="1920240"/>
            <a:ext cx="2103120" cy="65836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FFFF"/>
                </a:solidFill>
                <a:latin typeface="Onest"/>
              </a:rPr>
              <a:t>NPU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8476" y="263347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C0C0BB"/>
                </a:solidFill>
                <a:latin typeface="Onest"/>
              </a:rPr>
              <a:t>Whisper · Hailo · Qualcomm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1920240"/>
            <a:ext cx="2103120" cy="65836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FFFF"/>
                </a:solidFill>
                <a:latin typeface="Onest"/>
              </a:rPr>
              <a:t>Bridge Workbench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6" y="263347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C0C0BB"/>
                </a:solidFill>
                <a:latin typeface="Onest"/>
              </a:rPr>
              <a:t>MIDI-OSC + Voice · host-first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46236" y="1920240"/>
            <a:ext cx="2103120" cy="65836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FFFF"/>
                </a:solidFill>
                <a:latin typeface="Onest"/>
              </a:rPr>
              <a:t>Dual-Pi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6236" y="263347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C0C0BB"/>
                </a:solidFill>
                <a:latin typeface="Onest"/>
              </a:rPr>
              <a:t>Pi4 QNX · Pi5 Ubuntu + NPU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97580" y="2148840"/>
            <a:ext cx="256032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966460" y="2148840"/>
            <a:ext cx="256032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435340" y="2148840"/>
            <a:ext cx="256032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39595" y="3602736"/>
            <a:ext cx="2926080" cy="694944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443A"/>
                </a:solidFill>
                <a:latin typeface="Onest"/>
              </a:rPr>
              <a:t>DataBridge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9595" y="4352544"/>
            <a:ext cx="2926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C0C0BB"/>
                </a:solidFill>
                <a:latin typeface="Onest"/>
              </a:rPr>
              <a:t>AVAS/ESE · Pi4 QNX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1436" y="3602736"/>
            <a:ext cx="2926080" cy="694944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443A"/>
                </a:solidFill>
                <a:latin typeface="Onest"/>
              </a:rPr>
              <a:t>VREngine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1436" y="4352544"/>
            <a:ext cx="2926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C0C0BB"/>
                </a:solidFill>
                <a:latin typeface="Onest"/>
              </a:rPr>
              <a:t>Voice recognition · Pi5 Ubuntu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3275" y="3602736"/>
            <a:ext cx="2926080" cy="694944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8C62FF"/>
                </a:solidFill>
                <a:latin typeface="Onest"/>
              </a:rPr>
              <a:t>GENISYS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3275" y="4352544"/>
            <a:ext cx="2926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C0C0BB"/>
                </a:solidFill>
                <a:latin typeface="Onest"/>
              </a:rPr>
              <a:t>Studio system · Pi5 backend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4476" y="3017520"/>
            <a:ext cx="0" cy="347472"/>
          </a:xfrm>
          <a:prstGeom prst="line">
            <a:avLst/>
          </a:prstGeom>
          <a:ln w="1270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02635" y="3364992"/>
            <a:ext cx="6583680" cy="0"/>
          </a:xfrm>
          <a:prstGeom prst="line">
            <a:avLst/>
          </a:prstGeom>
          <a:ln w="1270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02635" y="3364992"/>
            <a:ext cx="0" cy="237744"/>
          </a:xfrm>
          <a:prstGeom prst="line">
            <a:avLst/>
          </a:prstGeom>
          <a:ln w="12700">
            <a:solidFill>
              <a:srgbClr val="C0C0BB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4475" y="3364992"/>
            <a:ext cx="0" cy="237744"/>
          </a:xfrm>
          <a:prstGeom prst="line">
            <a:avLst/>
          </a:prstGeom>
          <a:ln w="12700">
            <a:solidFill>
              <a:srgbClr val="C0C0BB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86315" y="3364992"/>
            <a:ext cx="0" cy="237744"/>
          </a:xfrm>
          <a:prstGeom prst="line">
            <a:avLst/>
          </a:prstGeom>
          <a:ln w="12700">
            <a:solidFill>
              <a:srgbClr val="C0C0BB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36876" y="3163824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FF443A"/>
                </a:solidFill>
                <a:latin typeface="Onest"/>
              </a:rPr>
              <a:t>From R&amp;D to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Section 1.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Story So Far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914400" y="3703320"/>
            <a:ext cx="10360152" cy="0"/>
          </a:xfrm>
          <a:prstGeom prst="line">
            <a:avLst/>
          </a:prstGeom>
          <a:ln w="9525">
            <a:solidFill>
              <a:srgbClr val="5E5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4476" y="1417320"/>
            <a:ext cx="0" cy="4754880"/>
          </a:xfrm>
          <a:prstGeom prst="line">
            <a:avLst/>
          </a:prstGeom>
          <a:ln w="9525">
            <a:solidFill>
              <a:srgbClr val="5E5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340096" y="2948939"/>
            <a:ext cx="1508760" cy="1508760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Onest SemiBold"/>
              </a:rPr>
              <a:t>ADC'21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9719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>
                <a:solidFill>
                  <a:srgbClr val="C0C0BB"/>
                </a:solidFill>
                <a:latin typeface="Onest"/>
              </a:rPr>
              <a:t>IDE on Target</a:t>
            </a:r>
          </a:p>
          <a:p>
            <a:pPr algn="l"/>
            <a:r>
              <a:rPr sz="1400">
                <a:solidFill>
                  <a:srgbClr val="FFFFFF"/>
                </a:solidFill>
                <a:latin typeface="Onest SemiBold"/>
              </a:rPr>
              <a:t>When starting out, connect the IDE to target filesystem and compile directly on-device — no cross-compilation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417320"/>
            <a:ext cx="499719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>
                <a:solidFill>
                  <a:srgbClr val="C0C0BB"/>
                </a:solidFill>
                <a:latin typeface="Onest"/>
              </a:rPr>
              <a:t>GPIO &amp; pigpio</a:t>
            </a:r>
          </a:p>
          <a:p>
            <a:pPr algn="l"/>
            <a:r>
              <a:rPr sz="1400">
                <a:solidFill>
                  <a:srgbClr val="FFFFFF"/>
                </a:solidFill>
                <a:latin typeface="Onest SemiBold"/>
              </a:rPr>
              <a:t>Hands-on GPIO examples: reading a potentiometer in C with the pigpio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4997196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>
                <a:solidFill>
                  <a:srgbClr val="C0C0BB"/>
                </a:solidFill>
                <a:latin typeface="Onest"/>
              </a:rPr>
              <a:t>C / C++ Interop</a:t>
            </a:r>
          </a:p>
          <a:p>
            <a:pPr algn="l"/>
            <a:r>
              <a:rPr sz="1400">
                <a:solidFill>
                  <a:srgbClr val="FFFFFF"/>
                </a:solidFill>
                <a:latin typeface="Onest SemiBold"/>
              </a:rPr>
              <a:t>Mapping C++ member functions to C function pointers via a Callback&lt;&gt; template — required to bind C functions to C++ class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3886200"/>
            <a:ext cx="4997196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>
                <a:solidFill>
                  <a:srgbClr val="C0C0BB"/>
                </a:solidFill>
                <a:latin typeface="Onest"/>
              </a:rPr>
              <a:t>Start Small</a:t>
            </a:r>
          </a:p>
          <a:p>
            <a:pPr algn="l"/>
            <a:r>
              <a:rPr sz="1400">
                <a:solidFill>
                  <a:srgbClr val="FFFFFF"/>
                </a:solidFill>
                <a:latin typeface="Onest SemiBold"/>
              </a:rPr>
              <a:t>Many small programs better than large ambitious project when learning embedded basics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914400" y="3703320"/>
            <a:ext cx="10360152" cy="0"/>
          </a:xfrm>
          <a:prstGeom prst="line">
            <a:avLst/>
          </a:prstGeom>
          <a:ln w="9525">
            <a:solidFill>
              <a:srgbClr val="5E5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4476" y="1417320"/>
            <a:ext cx="0" cy="4754880"/>
          </a:xfrm>
          <a:prstGeom prst="line">
            <a:avLst/>
          </a:prstGeom>
          <a:ln w="9525">
            <a:solidFill>
              <a:srgbClr val="5E5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340096" y="2948939"/>
            <a:ext cx="1508760" cy="1508760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Onest SemiBold"/>
              </a:rPr>
              <a:t>ADCx'23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9719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>
                <a:solidFill>
                  <a:srgbClr val="C0C0BB"/>
                </a:solidFill>
                <a:latin typeface="Onest"/>
              </a:rPr>
              <a:t>The Project</a:t>
            </a:r>
          </a:p>
          <a:p>
            <a:pPr algn="l"/>
            <a:r>
              <a:rPr sz="1400">
                <a:solidFill>
                  <a:srgbClr val="FFFFFF"/>
                </a:solidFill>
                <a:latin typeface="Onest SemiBold"/>
              </a:rPr>
              <a:t>NeuralPlayer — AI-enhanced music player combining Stem Separation and Audio-to-MIDI conversion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417320"/>
            <a:ext cx="4997196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>
                <a:solidFill>
                  <a:srgbClr val="C0C0BB"/>
                </a:solidFill>
                <a:latin typeface="Onest"/>
              </a:rPr>
              <a:t>The Philosophy</a:t>
            </a:r>
          </a:p>
          <a:p>
            <a:pPr algn="l"/>
            <a:r>
              <a:rPr sz="1400">
                <a:solidFill>
                  <a:srgbClr val="FFFFFF"/>
                </a:solidFill>
                <a:latin typeface="Onest SemiBold"/>
              </a:rPr>
              <a:t>Pure R&amp;D belongs on the host: no target hardware, no cross-compilation, no embedded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4997196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>
                <a:solidFill>
                  <a:srgbClr val="C0C0BB"/>
                </a:solidFill>
                <a:latin typeface="Onest"/>
              </a:rPr>
              <a:t>Optimize for Target (not Host)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Onest SemiBold"/>
              </a:rPr>
              <a:t>Move to target only once project is ready for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3886200"/>
            <a:ext cx="4997196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>
                <a:solidFill>
                  <a:srgbClr val="C0C0BB"/>
                </a:solidFill>
                <a:latin typeface="Onest"/>
              </a:rPr>
              <a:t>Coming in Future Talk</a:t>
            </a:r>
          </a:p>
          <a:p>
            <a:pPr algn="l"/>
            <a:r>
              <a:rPr sz="1400">
                <a:solidFill>
                  <a:srgbClr val="FFFFFF"/>
                </a:solidFill>
                <a:latin typeface="Onest SemiBold"/>
              </a:rPr>
              <a:t>NeuralPlayer didn't stop here — next talk will reveal the evolution of this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Section 2.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JUCE on QNX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QNX Everywhere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t>QNX's initiative to run on any CPU, any board, any use case</a:t>
            </a:r>
          </a:p>
          <a:p>
            <a:pPr lvl="2"/>
            <a:r>
              <a:t>Elk Audio OS already runs headless JUCE on a real-time OS — that part is solved</a:t>
            </a:r>
          </a:p>
          <a:p>
            <a:pPr lvl="2"/>
            <a:r>
              <a:t>JUCE with full module set now runs on QNX - including GUI modules</a:t>
            </a:r>
          </a:p>
          <a:p>
            <a:pPr lvl="2"/>
            <a:r>
              <a:t>SurgeXT on Pi 4/5 running QNX served as a great stress test</a:t>
            </a:r>
          </a:p>
          <a:p>
            <a:pPr lvl="2"/>
            <a:r>
              <a:t>Work ongoing to improve OpenGL framerate -</a:t>
            </a:r>
            <a:br/>
            <a:r>
              <a:t>watch JUCE4Pi repo for updates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pic>
        <p:nvPicPr>
          <p:cNvPr id="200" name="SVGLogo">
            <a:extLst>
              <a:ext uri="{FF2B5EF4-FFF2-40B4-BE49-F238E27FC236}">
                <a16:creationId xmlns:a16="http://schemas.microsoft.com/office/drawing/2016/SVG/main" id="{1F250BB6-7796-47FC-A338-FDFFF8927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792" y="6035040"/>
            <a:ext cx="2468880" cy="475488"/>
          </a:xfrm>
          <a:prstGeom prst="rect">
            <a:avLst/>
          </a:prstGeom>
          <a:ln>
            <a:noFill/>
          </a:ln>
        </p:spPr>
      </p:pic>
      <p:pic>
        <p:nvPicPr>
          <p:cNvPr id="201" name="Picture 200" descr="surg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743200"/>
            <a:ext cx="5212080" cy="32772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Target Matrix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2103120" cy="475488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Onest"/>
              </a:rPr>
              <a:t>QNX · Pi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234440"/>
            <a:ext cx="5120640" cy="47548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Onest"/>
              </a:rPr>
              <a:t>Ubuntu · Pi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234440"/>
            <a:ext cx="3182112" cy="47548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Onest"/>
              </a:rPr>
              <a:t>Host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911096"/>
            <a:ext cx="2103120" cy="457200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443A"/>
                </a:solidFill>
                <a:latin typeface="Onest"/>
              </a:rPr>
              <a:t>SurgeXT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32304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C0C0BB"/>
                </a:solidFill>
                <a:latin typeface="Onest"/>
              </a:rPr>
              <a:t>frame rate comparison 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911096"/>
            <a:ext cx="5120640" cy="457200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443A"/>
                </a:solidFill>
                <a:latin typeface="Onest"/>
              </a:rPr>
              <a:t>SurgeXT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496312"/>
            <a:ext cx="5120640" cy="457200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C0C0BB"/>
                </a:solidFill>
                <a:latin typeface="Onest"/>
              </a:rPr>
              <a:t>SurgeMIDIToOscBridge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3081528"/>
            <a:ext cx="5120640" cy="457200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443A"/>
                </a:solidFill>
                <a:latin typeface="Onest"/>
              </a:rPr>
              <a:t>DataBridge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3666744"/>
            <a:ext cx="5120640" cy="457200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443A"/>
                </a:solidFill>
                <a:latin typeface="Onest"/>
              </a:rPr>
              <a:t>VREngine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251960"/>
            <a:ext cx="5120640" cy="457200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C62FF"/>
                </a:solidFill>
                <a:latin typeface="Onest"/>
              </a:rPr>
              <a:t>GENISYS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911096"/>
            <a:ext cx="3182112" cy="457200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443A"/>
                </a:solidFill>
                <a:latin typeface="Onest"/>
              </a:rPr>
              <a:t>SurgeXT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496312"/>
            <a:ext cx="3182112" cy="457200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C0C0BB"/>
                </a:solidFill>
                <a:latin typeface="Onest"/>
              </a:rPr>
              <a:t>SurgeMIDIToOscBridge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017520"/>
            <a:ext cx="31821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C0C0BB"/>
                </a:solidFill>
                <a:latin typeface="Onest"/>
              </a:rPr>
              <a:t>native · Hailo NPU available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23160" y="2139696"/>
            <a:ext cx="731520" cy="0"/>
          </a:xfrm>
          <a:prstGeom prst="line">
            <a:avLst/>
          </a:prstGeom>
          <a:ln w="12700">
            <a:solidFill>
              <a:srgbClr val="C0C0BB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4983480"/>
            <a:ext cx="11548872" cy="0"/>
          </a:xfrm>
          <a:prstGeom prst="line">
            <a:avLst/>
          </a:prstGeom>
          <a:ln w="6350">
            <a:solidFill>
              <a:srgbClr val="5E5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0040" y="5038344"/>
            <a:ext cx="325526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C0C0BB"/>
                </a:solidFill>
                <a:latin typeface="Onest"/>
              </a:rPr>
              <a:t>Every target includes: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669280"/>
            <a:ext cx="1417320" cy="365760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443A"/>
                </a:solidFill>
                <a:latin typeface="Onest"/>
              </a:rPr>
              <a:t>build.sh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828800" y="5769864"/>
            <a:ext cx="237744" cy="164592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57984" y="5669280"/>
            <a:ext cx="1417320" cy="365760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C0C0BB"/>
                </a:solidFill>
                <a:latin typeface="Onest"/>
              </a:rPr>
              <a:t>deploy.py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038344"/>
            <a:ext cx="63825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C0C0BB"/>
                </a:solidFill>
                <a:latin typeface="Onest"/>
              </a:rPr>
              <a:t>Multi-arch targets pass  --target &lt;target&gt;  to select the toolchain: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5669280"/>
            <a:ext cx="2377440" cy="365760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443A"/>
                </a:solidFill>
                <a:latin typeface="Onest"/>
              </a:rPr>
              <a:t>./build.sh --target &lt;target&gt;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75120" y="5852160"/>
            <a:ext cx="201168" cy="0"/>
          </a:xfrm>
          <a:prstGeom prst="line">
            <a:avLst/>
          </a:prstGeom>
          <a:ln w="9525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76288" y="5660136"/>
            <a:ext cx="0" cy="384048"/>
          </a:xfrm>
          <a:prstGeom prst="line">
            <a:avLst/>
          </a:prstGeom>
          <a:ln w="9525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76288" y="5660136"/>
            <a:ext cx="237744" cy="0"/>
          </a:xfrm>
          <a:prstGeom prst="line">
            <a:avLst/>
          </a:prstGeom>
          <a:ln w="9525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76288" y="6044184"/>
            <a:ext cx="237744" cy="0"/>
          </a:xfrm>
          <a:prstGeom prst="line">
            <a:avLst/>
          </a:prstGeom>
          <a:ln w="9525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114032" y="5513832"/>
            <a:ext cx="3566160" cy="292608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C0C0BB"/>
                </a:solidFill>
                <a:latin typeface="Onest"/>
              </a:rPr>
              <a:t>linux  ·  aarch64-linux GCC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14032" y="5897880"/>
            <a:ext cx="3566160" cy="292608"/>
          </a:xfrm>
          <a:prstGeom prst="roundRect">
            <a:avLst/>
          </a:prstGeom>
          <a:solidFill>
            <a:srgbClr val="24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85352E"/>
                </a:solidFill>
                <a:latin typeface="Onest"/>
              </a:rPr>
              <a:t>qnx  ·  aarch64 QNX SDK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from the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lvl="1"/>
            <a:r>
              <a:t>What worked quickly</a:t>
            </a:r>
          </a:p>
          <a:p>
            <a:pPr lvl="2"/>
            <a:r>
              <a:t>ALSA — QNX supports it natively; existing Linux backend adapted in one day</a:t>
            </a:r>
          </a:p>
          <a:p>
            <a:pPr lvl="2"/>
            <a:r>
              <a:t>juce_core — POSIX base transferred almost directly</a:t>
            </a:r>
          </a:p>
          <a:p>
            <a:pPr lvl="2"/>
            <a:r>
              <a:t>Tracktion Engine — ported the same day as JUCE audio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lvl="1"/>
            <a:r>
              <a:t>What took time</a:t>
            </a:r>
          </a:p>
          <a:p>
            <a:pPr lvl="2"/>
            <a:r>
              <a:t>The Screen Framework — new ComponentPeer from scratch</a:t>
            </a:r>
          </a:p>
          <a:p>
            <a:pPr lvl="2"/>
            <a:r>
              <a:t>11 commits · 2,433 lines · 2+ weeks</a:t>
            </a:r>
          </a:p>
          <a:p>
            <a:pPr lvl="2"/>
            <a:r>
              <a:t>Layers: Screen FW → keyboard/mouse → fonts → OpenGL → secondary windows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21792" y="3858768"/>
            <a:ext cx="10945368" cy="0"/>
          </a:xfrm>
          <a:prstGeom prst="line">
            <a:avLst/>
          </a:prstGeom>
          <a:ln w="6350">
            <a:solidFill>
              <a:srgbClr val="5E5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3904487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C0C0BB"/>
                </a:solidFill>
                <a:latin typeface="Onest"/>
              </a:rPr>
              <a:t>Cross-compilation setup: aarch64 Ubuntu on WSL2 (Ubuntu Noble)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4160520"/>
            <a:ext cx="3252216" cy="1792224"/>
          </a:xfrm>
          <a:prstGeom prst="roundRect">
            <a:avLst/>
          </a:prstGeom>
          <a:solidFill>
            <a:srgbClr val="242422"/>
          </a:solidFill>
          <a:ln w="9525">
            <a:solidFill>
              <a:srgbClr val="5E5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4288536"/>
            <a:ext cx="274320" cy="256032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  <a:latin typeface="Onest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54296"/>
            <a:ext cx="3032760" cy="122529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Onest SemiBold"/>
              </a:rPr>
              <a:t>Restrict native repo</a:t>
            </a:r>
          </a:p>
          <a:p>
            <a:pPr algn="l"/>
            <a:r>
              <a:rPr sz="800">
                <a:solidFill>
                  <a:srgbClr val="FF443A"/>
                </a:solidFill>
                <a:latin typeface="Onest"/>
              </a:rPr>
              <a:t>ubuntu.sources</a:t>
            </a:r>
          </a:p>
          <a:p>
            <a:pPr algn="l"/>
            <a:r>
              <a:rPr sz="800">
                <a:solidFill>
                  <a:srgbClr val="C0C0BB"/>
                </a:solidFill>
                <a:latin typeface="Onest"/>
              </a:rPr>
              <a:t>Add: Architectures: amd64</a:t>
            </a:r>
          </a:p>
          <a:p>
            <a:pPr algn="l"/>
            <a:r>
              <a:rPr sz="800">
                <a:solidFill>
                  <a:srgbClr val="C0C0BB"/>
                </a:solidFill>
                <a:latin typeface="Onest"/>
              </a:rPr>
              <a:t>Prevents apt mixing host and target libs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9164" y="4956048"/>
            <a:ext cx="384048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8368" y="4160520"/>
            <a:ext cx="3252216" cy="1792224"/>
          </a:xfrm>
          <a:prstGeom prst="roundRect">
            <a:avLst/>
          </a:prstGeom>
          <a:solidFill>
            <a:srgbClr val="242422"/>
          </a:solidFill>
          <a:ln w="9525">
            <a:solidFill>
              <a:srgbClr val="5E5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4672" y="4288536"/>
            <a:ext cx="274320" cy="256032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  <a:latin typeface="Onest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8096" y="4654296"/>
            <a:ext cx="3032760" cy="122529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Onest SemiBold"/>
              </a:rPr>
              <a:t>Add arm64 ports</a:t>
            </a:r>
          </a:p>
          <a:p>
            <a:pPr algn="l"/>
            <a:r>
              <a:rPr sz="800">
                <a:solidFill>
                  <a:srgbClr val="FF443A"/>
                </a:solidFill>
                <a:latin typeface="Onest"/>
              </a:rPr>
              <a:t>ubuntu-arm64-ports.sources</a:t>
            </a:r>
          </a:p>
          <a:p>
            <a:pPr algn="l"/>
            <a:r>
              <a:rPr sz="800">
                <a:solidFill>
                  <a:srgbClr val="C0C0BB"/>
                </a:solidFill>
                <a:latin typeface="Onest"/>
              </a:rPr>
              <a:t>URIs: ports.ubuntu.com/ubuntu-ports</a:t>
            </a:r>
          </a:p>
          <a:p>
            <a:pPr algn="l"/>
            <a:r>
              <a:rPr sz="800">
                <a:solidFill>
                  <a:srgbClr val="C0C0BB"/>
                </a:solidFill>
                <a:latin typeface="Onest"/>
              </a:rPr>
              <a:t>Architectures: arm64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25740" y="4956048"/>
            <a:ext cx="384048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14944" y="4160520"/>
            <a:ext cx="3252216" cy="1792224"/>
          </a:xfrm>
          <a:prstGeom prst="roundRect">
            <a:avLst/>
          </a:prstGeom>
          <a:solidFill>
            <a:srgbClr val="242422"/>
          </a:solidFill>
          <a:ln w="9525">
            <a:solidFill>
              <a:srgbClr val="5E5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61248" y="4288536"/>
            <a:ext cx="274320" cy="256032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  <a:latin typeface="Onest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4672" y="4654296"/>
            <a:ext cx="3032760" cy="122529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Onest SemiBold"/>
              </a:rPr>
              <a:t>Install toolchain</a:t>
            </a:r>
          </a:p>
          <a:p>
            <a:pPr algn="l"/>
            <a:r>
              <a:rPr sz="800">
                <a:solidFill>
                  <a:srgbClr val="FF443A"/>
                </a:solidFill>
                <a:latin typeface="Onest"/>
              </a:rPr>
              <a:t>dpkg + apt</a:t>
            </a:r>
          </a:p>
          <a:p>
            <a:pPr algn="l"/>
            <a:r>
              <a:rPr sz="800">
                <a:solidFill>
                  <a:srgbClr val="C0C0BB"/>
                </a:solidFill>
                <a:latin typeface="Onest"/>
              </a:rPr>
              <a:t>dpkg --add-architecture arm64</a:t>
            </a:r>
          </a:p>
          <a:p>
            <a:pPr algn="l"/>
            <a:r>
              <a:rPr sz="800">
                <a:solidFill>
                  <a:srgbClr val="C0C0BB"/>
                </a:solidFill>
                <a:latin typeface="Onest"/>
              </a:rPr>
              <a:t>apt install gcc-aarch64-linux-gnu</a:t>
            </a:r>
          </a:p>
          <a:p>
            <a:pPr algn="l"/>
            <a:r>
              <a:rPr sz="800">
                <a:solidFill>
                  <a:srgbClr val="C0C0BB"/>
                </a:solidFill>
                <a:latin typeface="Onest"/>
              </a:rPr>
              <a:t>  g++-aarch64-linux-gnu</a:t>
            </a:r>
          </a:p>
          <a:p>
            <a:pPr algn="l"/>
            <a:r>
              <a:rPr sz="800">
                <a:solidFill>
                  <a:srgbClr val="C0C0BB"/>
                </a:solidFill>
                <a:latin typeface="Onest"/>
              </a:rPr>
              <a:t>  libasound2-dev:arm64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007607"/>
            <a:ext cx="109453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nest"/>
              </a:rPr>
              <a:t>Check the docs folder for SurgeMIDIToOscBridge for more details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JUCE ↔ QNX: The Screen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457200" y="2697480"/>
            <a:ext cx="11274552" cy="0"/>
          </a:xfrm>
          <a:prstGeom prst="line">
            <a:avLst/>
          </a:prstGeom>
          <a:ln w="6350">
            <a:solidFill>
              <a:srgbClr val="5E5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3913632"/>
            <a:ext cx="11274552" cy="0"/>
          </a:xfrm>
          <a:prstGeom prst="line">
            <a:avLst/>
          </a:prstGeom>
          <a:ln w="6350">
            <a:solidFill>
              <a:srgbClr val="5E5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1554480"/>
            <a:ext cx="3337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C0C0BB"/>
                </a:solidFill>
                <a:latin typeface="Onest"/>
              </a:rPr>
              <a:t>JUCE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724912"/>
            <a:ext cx="7772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443A"/>
                </a:solidFill>
                <a:latin typeface="Onest"/>
              </a:rPr>
              <a:t>QNX PORT  —  juce_Windowing_qnx.cpp  +  juce_OpenGL_qnx.h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941063"/>
            <a:ext cx="3337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06CA5F"/>
                </a:solidFill>
                <a:latin typeface="Onest"/>
              </a:rPr>
              <a:t>QNX SCREEN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8704" y="3941063"/>
            <a:ext cx="3337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8C62FF"/>
                </a:solidFill>
                <a:latin typeface="Onest"/>
              </a:rPr>
              <a:t>EGL / OpenGL 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37360"/>
            <a:ext cx="3337560" cy="621792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  <a:latin typeface="Onest"/>
              </a:rPr>
              <a:t>juce::Component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18704" y="1737360"/>
            <a:ext cx="3337560" cy="621792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  <a:latin typeface="Onest"/>
              </a:rPr>
              <a:t>juce::OpenGLContext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926080"/>
            <a:ext cx="3337560" cy="731520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Onest"/>
              </a:rPr>
              <a:t>QnxComponentPeer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Onest"/>
              </a:rPr>
              <a:t>(: ComponentPeer)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2926080"/>
            <a:ext cx="3337560" cy="731520"/>
          </a:xfrm>
          <a:prstGeom prst="roundRect">
            <a:avLst/>
          </a:prstGeom>
          <a:solidFill>
            <a:srgbClr val="85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Onest"/>
              </a:rPr>
              <a:t>SharedQnxScreen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Onest"/>
              </a:rPr>
              <a:t>EventThread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2926080"/>
            <a:ext cx="3337560" cy="731520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  <a:latin typeface="Onest"/>
              </a:rPr>
              <a:t>OpenGLContext::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Onest"/>
              </a:rPr>
              <a:t>NativeContext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114800"/>
            <a:ext cx="3337560" cy="822960"/>
          </a:xfrm>
          <a:prstGeom prst="roundRect">
            <a:avLst/>
          </a:prstGeom>
          <a:solidFill>
            <a:srgbClr val="242422"/>
          </a:solidFill>
          <a:ln w="15875">
            <a:solidFill>
              <a:srgbClr val="06C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Onest"/>
              </a:rPr>
              <a:t>screen_context_t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Onest"/>
              </a:rPr>
              <a:t>(shared, ref-counted)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4114800"/>
            <a:ext cx="3337560" cy="822960"/>
          </a:xfrm>
          <a:prstGeom prst="roundRect">
            <a:avLst/>
          </a:prstGeom>
          <a:solidFill>
            <a:srgbClr val="242422"/>
          </a:solidFill>
          <a:ln w="15875">
            <a:solidFill>
              <a:srgbClr val="06C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Onest"/>
              </a:rPr>
              <a:t>screen_window_t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Onest"/>
              </a:rPr>
              <a:t>(windowing + EGL surface)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18704" y="4114800"/>
            <a:ext cx="3337560" cy="822960"/>
          </a:xfrm>
          <a:prstGeom prst="roundRect">
            <a:avLst/>
          </a:prstGeom>
          <a:solidFill>
            <a:srgbClr val="242422"/>
          </a:solidFill>
          <a:ln w="15875">
            <a:solidFill>
              <a:srgbClr val="8C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  <a:latin typeface="Onest"/>
              </a:rPr>
              <a:t>EGLDisplay + EGLSurface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Onest"/>
              </a:rPr>
              <a:t>+ eglSwapBuffers()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90572" y="2359152"/>
            <a:ext cx="0" cy="566928"/>
          </a:xfrm>
          <a:prstGeom prst="line">
            <a:avLst/>
          </a:prstGeom>
          <a:ln w="1270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90572" y="3657600"/>
            <a:ext cx="0" cy="457200"/>
          </a:xfrm>
          <a:prstGeom prst="line">
            <a:avLst/>
          </a:prstGeom>
          <a:ln w="1270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87484" y="2359152"/>
            <a:ext cx="0" cy="566928"/>
          </a:xfrm>
          <a:prstGeom prst="line">
            <a:avLst/>
          </a:prstGeom>
          <a:ln w="1270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87484" y="3657600"/>
            <a:ext cx="0" cy="457200"/>
          </a:xfrm>
          <a:prstGeom prst="line">
            <a:avLst/>
          </a:prstGeom>
          <a:ln w="1270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39028" y="3657600"/>
            <a:ext cx="0" cy="457200"/>
          </a:xfrm>
          <a:prstGeom prst="line">
            <a:avLst/>
          </a:prstGeom>
          <a:ln w="1270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59352" y="3291840"/>
            <a:ext cx="310896" cy="0"/>
          </a:xfrm>
          <a:prstGeom prst="line">
            <a:avLst/>
          </a:prstGeom>
          <a:ln w="1270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59051" y="237744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C0C0BB"/>
                </a:solidFill>
                <a:latin typeface="Onest"/>
              </a:rPr>
              <a:t>createPeer()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5963" y="237744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C0C0BB"/>
                </a:solidFill>
                <a:latin typeface="Onest"/>
              </a:rPr>
              <a:t>attaches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32004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C0C0BB"/>
                </a:solidFill>
                <a:latin typeface="Onest"/>
              </a:rPr>
              <a:t>register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1644" y="36850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8C62FF"/>
                </a:solidFill>
                <a:latin typeface="Onest"/>
              </a:rPr>
              <a:t>↓ getNativeHandle() → screen_window_t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Bonus: Tracktion Engine on QNX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t>Timeline-based audio engine running on target useful for eval</a:t>
            </a:r>
          </a:p>
          <a:p>
            <a:pPr lvl="2"/>
            <a:r>
              <a:t>"Why You Shouldn't Write a DAW" — David Rowland, ADC23 — exactly how we're thinking about this</a:t>
            </a:r>
          </a:p>
          <a:p>
            <a:pPr lvl="2"/>
            <a:r>
              <a:t>No MIDI on QNX? OSC over UDP closer protocol fit to automotive data buses than MIDI anyway</a:t>
            </a:r>
          </a:p>
          <a:p>
            <a:pPr lvl="2"/>
            <a:r>
              <a:t>OSC as a surrogate for real automotive data streams like CAN, VIN, etc.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6199632"/>
            <a:ext cx="10945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C0C0BB"/>
                </a:solidFill>
                <a:latin typeface="Onest"/>
                <a:hlinkClick r:id="rId2"/>
              </a:rPr>
              <a:t>Ref: youtube.com/watch?v=GMlnh6_9aTc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Section 3.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Audio on the NPU</a:t>
            </a:r>
          </a:p>
        </p:txBody>
      </p:sp>
      <p:pic>
        <p:nvPicPr>
          <p:cNvPr id="4" name="Picture 3" descr="Hailo10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474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Audio on the NPU — Pros &amp; Cons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21792" y="1773936"/>
            <a:ext cx="1728216" cy="1728216"/>
          </a:xfrm>
          <a:prstGeom prst="roundRect">
            <a:avLst/>
          </a:prstGeom>
          <a:noFill/>
          <a:ln w="19050">
            <a:solidFill>
              <a:srgbClr val="06C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0" name="Arrow"/>
          <p:cNvSpPr>
            <a:spLocks noChangeAspect="1"/>
          </p:cNvSpPr>
          <p:nvPr/>
        </p:nvSpPr>
        <p:spPr>
          <a:xfrm rot="10800000">
            <a:off x="1088136" y="2240280"/>
            <a:ext cx="795528" cy="795528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lnTo>
                  <a:pt x="66675" y="115967"/>
                </a:lnTo>
                <a:lnTo>
                  <a:pt x="13335" y="62627"/>
                </a:lnTo>
                <a:lnTo>
                  <a:pt x="0" y="76200"/>
                </a:lnTo>
                <a:lnTo>
                  <a:pt x="76200" y="152400"/>
                </a:lnTo>
                <a:lnTo>
                  <a:pt x="152400" y="76200"/>
                </a:lnTo>
                <a:lnTo>
                  <a:pt x="139065" y="62627"/>
                </a:lnTo>
                <a:lnTo>
                  <a:pt x="85725" y="115967"/>
                </a:lnTo>
                <a:lnTo>
                  <a:pt x="85725" y="0"/>
                </a:lnTo>
                <a:lnTo>
                  <a:pt x="66675" y="0"/>
                </a:lnTo>
                <a:close/>
              </a:path>
            </a:pathLst>
          </a:custGeom>
          <a:solidFill>
            <a:srgbClr val="06CA5F"/>
          </a:solidFill>
          <a:ln w="238" cap="flat"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0" y="1773936"/>
            <a:ext cx="8641080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i="1">
                <a:solidFill>
                  <a:srgbClr val="FFFFFF"/>
                </a:solidFill>
                <a:latin typeface="Onest"/>
              </a:rPr>
              <a:t>"NPUs shine with low-latency, single-inference tasks — think real-time audio cleanup or live transcription during video calls. One client in the film industry reduced their audio processing time by over 70%…"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3895344"/>
            <a:ext cx="8641079" cy="0"/>
          </a:xfrm>
          <a:prstGeom prst="line">
            <a:avLst/>
          </a:prstGeom>
          <a:ln w="9525">
            <a:solidFill>
              <a:srgbClr val="5E5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4297680"/>
            <a:ext cx="1728216" cy="1728216"/>
          </a:xfrm>
          <a:prstGeom prst="roundRect">
            <a:avLst/>
          </a:prstGeom>
          <a:noFill/>
          <a:ln w="19050">
            <a:solidFill>
              <a:srgbClr val="E4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0" name="Arrow"/>
          <p:cNvSpPr>
            <a:spLocks noChangeAspect="1"/>
          </p:cNvSpPr>
          <p:nvPr/>
        </p:nvSpPr>
        <p:spPr>
          <a:xfrm>
            <a:off x="1088136" y="4764024"/>
            <a:ext cx="795528" cy="795528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lnTo>
                  <a:pt x="66675" y="115967"/>
                </a:lnTo>
                <a:lnTo>
                  <a:pt x="13335" y="62627"/>
                </a:lnTo>
                <a:lnTo>
                  <a:pt x="0" y="76200"/>
                </a:lnTo>
                <a:lnTo>
                  <a:pt x="76200" y="152400"/>
                </a:lnTo>
                <a:lnTo>
                  <a:pt x="152400" y="76200"/>
                </a:lnTo>
                <a:lnTo>
                  <a:pt x="139065" y="62627"/>
                </a:lnTo>
                <a:lnTo>
                  <a:pt x="85725" y="115967"/>
                </a:lnTo>
                <a:lnTo>
                  <a:pt x="85725" y="0"/>
                </a:lnTo>
                <a:lnTo>
                  <a:pt x="66675" y="0"/>
                </a:lnTo>
                <a:close/>
              </a:path>
            </a:pathLst>
          </a:custGeom>
          <a:solidFill>
            <a:srgbClr val="E4203C"/>
          </a:solidFill>
          <a:ln w="238" cap="flat"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4297680"/>
            <a:ext cx="8641080" cy="1947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i="1">
                <a:solidFill>
                  <a:srgbClr val="FFFFFF"/>
                </a:solidFill>
                <a:latin typeface="Onest"/>
              </a:rPr>
              <a:t>"memory bandwidth matters more than raw compute for many NPU workloads"</a:t>
            </a:r>
          </a:p>
          <a:p>
            <a:pPr algn="l"/>
            <a:r>
              <a:rPr sz="1300">
                <a:solidFill>
                  <a:srgbClr val="FFFFFF"/>
                </a:solidFill>
                <a:latin typeface="Onest"/>
              </a:rPr>
              <a:t>Added complexity of communication between the CPU and NPU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199632"/>
            <a:ext cx="10945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C0C0BB"/>
                </a:solidFill>
                <a:latin typeface="Onest"/>
                <a:hlinkClick r:id="rId2"/>
              </a:rPr>
              <a:t>Source: ordinarytech.ca — On-device AI in 2026: How NPUs are Transforming AI PCs for Creators and Power Users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Hailo 10-H: NPU Bring-Up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21792" y="1920240"/>
            <a:ext cx="3255264" cy="3657600"/>
          </a:xfrm>
          <a:prstGeom prst="roundRect">
            <a:avLst/>
          </a:prstGeom>
          <a:solidFill>
            <a:srgbClr val="242422"/>
          </a:solidFill>
          <a:ln w="9525">
            <a:solidFill>
              <a:srgbClr val="5E5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66544"/>
            <a:ext cx="365760" cy="347472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Onest Semi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121408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C0C0BB"/>
                </a:solidFill>
                <a:latin typeface="Onest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670048"/>
            <a:ext cx="2962656" cy="27614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Onest SemiBold"/>
              </a:rPr>
              <a:t>Windows Host</a:t>
            </a:r>
          </a:p>
          <a:p>
            <a:pPr algn="l"/>
            <a:r>
              <a:rPr sz="900">
                <a:solidFill>
                  <a:srgbClr val="FF443A"/>
                </a:solidFill>
                <a:latin typeface="Onest"/>
              </a:rPr>
              <a:t>Windows 11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whisper.cpp on CPU — first working prototype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No NPU in the loop initially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CPU-based voice API for bridge tool coded here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Hailo backend deliberately disabled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920240"/>
            <a:ext cx="3255264" cy="3657600"/>
          </a:xfrm>
          <a:prstGeom prst="roundRect">
            <a:avLst/>
          </a:prstGeom>
          <a:solidFill>
            <a:srgbClr val="242422"/>
          </a:solidFill>
          <a:ln w="9525">
            <a:solidFill>
              <a:srgbClr val="5E5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2066544"/>
            <a:ext cx="365760" cy="347472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Onest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352" y="2121408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C0C0BB"/>
                </a:solidFill>
                <a:latin typeface="Onest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670048"/>
            <a:ext cx="2962656" cy="27614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Onest SemiBold"/>
              </a:rPr>
              <a:t>Ubuntu Dev Host</a:t>
            </a:r>
          </a:p>
          <a:p>
            <a:pPr algn="l"/>
            <a:r>
              <a:rPr sz="900">
                <a:solidFill>
                  <a:srgbClr val="FF443A"/>
                </a:solidFill>
                <a:latin typeface="Onest"/>
              </a:rPr>
              <a:t>Native Linux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Hailo M.2 in the dev laptop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HailoRT SDK and arm64 sysroot configured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NPU inference integrated into the Bridge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Full pipeline validated on the host 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920240"/>
            <a:ext cx="3255264" cy="3657600"/>
          </a:xfrm>
          <a:prstGeom prst="roundRect">
            <a:avLst/>
          </a:prstGeom>
          <a:solidFill>
            <a:srgbClr val="242422"/>
          </a:solidFill>
          <a:ln w="9525">
            <a:solidFill>
              <a:srgbClr val="5E5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2066544"/>
            <a:ext cx="365760" cy="347472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Onest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2121408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C0C0BB"/>
                </a:solidFill>
                <a:latin typeface="Onest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6" y="2670048"/>
            <a:ext cx="2962656" cy="27614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Onest SemiBold"/>
              </a:rPr>
              <a:t>Ubuntu Target</a:t>
            </a:r>
          </a:p>
          <a:p>
            <a:pPr algn="l"/>
            <a:r>
              <a:rPr sz="900">
                <a:solidFill>
                  <a:srgbClr val="FF443A"/>
                </a:solidFill>
                <a:latin typeface="Onest"/>
              </a:rPr>
              <a:t>Raspberry Pi 5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Same Hailo-10H, now on target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Hailo-10H over PCIe via Geekworm X1001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Host pipeline moves to target unchanged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NPU bring-up complete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18204" y="3621024"/>
            <a:ext cx="502920" cy="256032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758683" y="3621024"/>
            <a:ext cx="502920" cy="256032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930384" y="5577840"/>
            <a:ext cx="0" cy="274319"/>
          </a:xfrm>
          <a:prstGeom prst="line">
            <a:avLst/>
          </a:prstGeom>
          <a:ln w="19050">
            <a:solidFill>
              <a:srgbClr val="FF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249424" y="5852159"/>
            <a:ext cx="7680960" cy="0"/>
          </a:xfrm>
          <a:prstGeom prst="line">
            <a:avLst/>
          </a:prstGeom>
          <a:ln w="19050">
            <a:solidFill>
              <a:srgbClr val="FF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249424" y="5577840"/>
            <a:ext cx="0" cy="274319"/>
          </a:xfrm>
          <a:prstGeom prst="line">
            <a:avLst/>
          </a:prstGeom>
          <a:ln w="19050">
            <a:solidFill>
              <a:srgbClr val="FF443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83664" y="5943599"/>
            <a:ext cx="8412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443A"/>
                </a:solidFill>
                <a:latin typeface="Onest"/>
              </a:rPr>
              <a:t>Bonus: Hailo support added to Windows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QNX NPU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Onest"/>
              </a:rPr>
              <a:t>• QNX supports Hailo-8 and Hailo-8L today — Hailo-10H support coming in future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91640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Onest"/>
              </a:rPr>
              <a:t>• Comparison of workloads on 1st-gen Hailo NPUs promising on QNX vs PREEMPT_RT Linux [1]</a:t>
            </a:r>
          </a:p>
        </p:txBody>
      </p:sp>
      <p:pic>
        <p:nvPicPr>
          <p:cNvPr id="6" name="Picture 5" descr="QNX_vs_RTLINUX1_F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0"/>
            <a:ext cx="5440680" cy="3252580"/>
          </a:xfrm>
          <a:prstGeom prst="rect">
            <a:avLst/>
          </a:prstGeom>
        </p:spPr>
      </p:pic>
      <p:pic>
        <p:nvPicPr>
          <p:cNvPr id="7" name="Picture 6" descr="QNX_vs_RTLINUX2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286000"/>
            <a:ext cx="5440680" cy="31296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73952"/>
            <a:ext cx="11521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C0C0BB"/>
                </a:solidFill>
                <a:latin typeface="Onest"/>
              </a:rPr>
              <a:t>[1] PhyAI Foundation — QNX vs PREEMPT_RT Linux MobileNetv1 Benchmark  (publication forthcoming)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Faster on the NPU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lvl="1"/>
            <a:r>
              <a:t>Whisper on Target CPU — baseline</a:t>
            </a:r>
          </a:p>
          <a:p>
            <a:pPr lvl="2"/>
            <a:r>
              <a:t>Transcription latency: ~3 seconds per command (single-core) - too slow!</a:t>
            </a:r>
          </a:p>
          <a:p>
            <a:pPr lvl="2"/>
            <a:r>
              <a:t>RPi5 ARM core peak/median load less predictable</a:t>
            </a:r>
          </a:p>
          <a:p>
            <a:pPr lvl="2"/>
            <a:r>
              <a:t>SurgeXT audio competes for the same cores</a:t>
            </a:r>
          </a:p>
          <a:p>
            <a:pPr lvl="2"/>
            <a:r>
              <a:t>Contention could cause artifacts at lower buffer sizes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lvl="1"/>
            <a:r>
              <a:t>Whisper on Hailo 10-H</a:t>
            </a:r>
          </a:p>
          <a:p>
            <a:pPr lvl="2"/>
            <a:r>
              <a:t>Transcription latency: ~300 milliseconds per command (no optimization)</a:t>
            </a:r>
          </a:p>
          <a:p>
            <a:pPr lvl="2"/>
            <a:r>
              <a:t>UX now within realm of usability for intended application</a:t>
            </a:r>
          </a:p>
          <a:p>
            <a:pPr lvl="2"/>
            <a:r>
              <a:t>CPU load predictable again, relative to number of active voices</a:t>
            </a:r>
          </a:p>
          <a:p>
            <a:pPr lvl="2"/>
            <a:r>
              <a:t>Lowest buffer size RPi5 capable of once again possible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Section 4.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Developing Host-First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SurgeMIDIToOSCBridge: One Tool, Two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lvl="1"/>
            <a:r>
              <a:t>Role 1: MIDI → OSC</a:t>
            </a:r>
          </a:p>
          <a:p>
            <a:pPr lvl="2"/>
            <a:r>
              <a:t>MIDI has no role in automotive — QNX doesn't support it</a:t>
            </a:r>
          </a:p>
          <a:p>
            <a:pPr lvl="2"/>
            <a:r>
              <a:t>Bridge translates controller MIDI input to OSC messages</a:t>
            </a:r>
          </a:p>
          <a:p>
            <a:pPr lvl="2"/>
            <a:r>
              <a:t>SurgeXT already speaks OSC natively — no synth changes needed</a:t>
            </a:r>
          </a:p>
          <a:p>
            <a:pPr lvl="2"/>
            <a:r>
              <a:t>Solves the QNX MIDI gap without touching the target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lvl="1"/>
            <a:r>
              <a:t>Role 2: Voice API Prototype</a:t>
            </a:r>
          </a:p>
          <a:p>
            <a:pPr lvl="2"/>
            <a:r>
              <a:t>whisper.cpp integrated into the same binary</a:t>
            </a:r>
          </a:p>
          <a:p>
            <a:pPr lvl="2"/>
            <a:r>
              <a:t>Develop and validate the voice pipeline on the Host</a:t>
            </a:r>
          </a:p>
          <a:p>
            <a:pPr lvl="2"/>
            <a:r>
              <a:t>Same binary deploys to the Target unchanged</a:t>
            </a:r>
          </a:p>
          <a:p>
            <a:pPr lvl="2"/>
            <a:r>
              <a:t>One tool, both roles — convenience, not architecture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pic>
        <p:nvPicPr>
          <p:cNvPr id="6" name="Picture 5" descr="SurgeMidiToOscBridge.png"/>
          <p:cNvPicPr>
            <a:picLocks noChangeAspect="1"/>
          </p:cNvPicPr>
          <p:nvPr/>
        </p:nvPicPr>
        <p:blipFill>
          <a:blip r:embed="rId2"/>
          <a:srcRect b="26548"/>
          <a:stretch>
            <a:fillRect/>
          </a:stretch>
        </p:blipFill>
        <p:spPr>
          <a:xfrm>
            <a:off x="4037076" y="3931920"/>
            <a:ext cx="411480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Bridge: MIDI → OSC Feature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lvl="1"/>
            <a:r>
              <a:t>Initial Testing</a:t>
            </a:r>
          </a:p>
          <a:p>
            <a:pPr lvl="2"/>
            <a:r>
              <a:t>Note On/Off + velocity → /mnote/{on|off}</a:t>
            </a:r>
          </a:p>
          <a:p>
            <a:pPr lvl="2"/>
            <a:r>
              <a:t>8-control CC macro banks</a:t>
            </a:r>
          </a:p>
          <a:p>
            <a:pPr lvl="2"/>
            <a:r>
              <a:t>X/Y touchpad</a:t>
            </a:r>
          </a:p>
          <a:p>
            <a:pPr lvl="2"/>
            <a:r>
              <a:t>Patch/Bank change messages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lvl="1"/>
            <a:r>
              <a:t>Towards GENISYS</a:t>
            </a:r>
          </a:p>
          <a:p>
            <a:pPr lvl="2"/>
            <a:r>
              <a:t>MIDI Learn for any OSC destination</a:t>
            </a:r>
          </a:p>
          <a:p>
            <a:pPr lvl="2"/>
            <a:r>
              <a:t>Prototype 'Studio Builder' wizard with available controllers</a:t>
            </a:r>
          </a:p>
          <a:p>
            <a:pPr lvl="2"/>
            <a:r>
              <a:t/>
            </a:r>
          </a:p>
          <a:p>
            <a:pPr lvl="2"/>
            <a:r>
              <a:t/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Bridge: Voice API Feature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lvl="1"/>
            <a:r>
              <a:t>Patch Control</a:t>
            </a:r>
          </a:p>
          <a:p>
            <a:pPr lvl="2"/>
            <a:r>
              <a:t>Load patch by name → /patch/load [name]</a:t>
            </a:r>
          </a:p>
          <a:p>
            <a:pPr lvl="2"/>
            <a:r>
              <a:t>Step through patches → /patch/{incr|decr}</a:t>
            </a:r>
          </a:p>
          <a:p>
            <a:pPr lvl="2"/>
            <a:r>
              <a:t>Browse by category → /patch/{incr|decr}_category</a:t>
            </a:r>
          </a:p>
          <a:p>
            <a:pPr lvl="2"/>
            <a:r>
              <a:t>Surprise me → /patch/random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lvl="1"/>
            <a:r>
              <a:t>Sound Shaping</a:t>
            </a:r>
          </a:p>
          <a:p>
            <a:pPr lvl="2"/>
            <a:r>
              <a:t>Named macros 1–8 → /param/macro/N  ("more brightness")</a:t>
            </a:r>
          </a:p>
          <a:p>
            <a:pPr lvl="2"/>
            <a:r>
              <a:t>Global volume → /param/global/volume</a:t>
            </a:r>
          </a:p>
          <a:p>
            <a:pPr lvl="2"/>
            <a:r>
              <a:t>FX bypass by slot → /param/fx/{scene}/{slot}/deactivate</a:t>
            </a:r>
          </a:p>
          <a:p>
            <a:pPr lvl="2"/>
            <a:r>
              <a:t>Any parameter by OSC address → /param/...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Section 5.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to the Target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Bridge — How We Got to the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lvl="1"/>
            <a:r>
              <a:t>One tool, four stages</a:t>
            </a:r>
          </a:p>
          <a:p>
            <a:pPr lvl="2"/>
            <a:r>
              <a:t>Stage 1 — MIDI gap: Bridge translates Host MIDI → Target OSC. SurgeXT already speaks OSC — no changes needed</a:t>
            </a:r>
          </a:p>
          <a:p>
            <a:pPr lvl="2"/>
            <a:r>
              <a:t>Stage 2 — Voice on Host: add whisper.cpp. Same OSC path, new input source</a:t>
            </a:r>
          </a:p>
          <a:p>
            <a:pPr lvl="2"/>
            <a:r>
              <a:t>Stage 3 — Host NPU: BRIDGE_HAS_HAILO=1. Same app, Hailo backend</a:t>
            </a:r>
          </a:p>
          <a:p>
            <a:pPr lvl="2"/>
            <a:r>
              <a:t>Stage 4 — Move to Target: redeploy Bridge to RPi5. Nothing else changes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lvl="1"/>
            <a:r>
              <a:t>Why 3 NPUs made this possible</a:t>
            </a:r>
          </a:p>
          <a:p>
            <a:pPr lvl="2"/>
            <a:r>
              <a:t>Hailo M.2: same chip in dev laptop and in the RPi5 M.2 hat</a:t>
            </a:r>
          </a:p>
          <a:p>
            <a:pPr lvl="2"/>
            <a:r>
              <a:t>Validate NPU inference on the host — no SSH, no cross-compile, no target in the loop</a:t>
            </a:r>
          </a:p>
          <a:p>
            <a:pPr lvl="2"/>
            <a:r>
              <a:t>Never fight remote-dev issues and novel hardware at the same time</a:t>
            </a:r>
          </a:p>
          <a:p>
            <a:pPr lvl="2"/>
            <a:r>
              <a:t>One NPU per stage: Windows → Ubuntu → RPi5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 / Target Support Matrix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51846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0C0BB"/>
                </a:solidFill>
                <a:latin typeface="Onest"/>
              </a:rPr>
              <a:t>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664208"/>
            <a:ext cx="51846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0C0BB"/>
                </a:solidFill>
                <a:latin typeface="Onest"/>
              </a:rPr>
              <a:t>TARGETS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4476" y="1627632"/>
            <a:ext cx="0" cy="4517136"/>
          </a:xfrm>
          <a:prstGeom prst="line">
            <a:avLst/>
          </a:prstGeom>
          <a:ln w="15875">
            <a:solidFill>
              <a:srgbClr val="8C6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" y="2011680"/>
            <a:ext cx="2304288" cy="3931920"/>
          </a:xfrm>
          <a:prstGeom prst="roundRect">
            <a:avLst/>
          </a:prstGeom>
          <a:solidFill>
            <a:srgbClr val="242422"/>
          </a:solidFill>
          <a:ln w="9525">
            <a:solidFill>
              <a:srgbClr val="5E5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57984"/>
            <a:ext cx="365760" cy="347472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Onest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212848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C0C0BB"/>
                </a:solidFill>
                <a:latin typeface="Onest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61488"/>
            <a:ext cx="2011680" cy="30358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Onest SemiBold"/>
              </a:rPr>
              <a:t>Windows Host</a:t>
            </a:r>
          </a:p>
          <a:p>
            <a:pPr algn="l"/>
            <a:r>
              <a:rPr sz="900">
                <a:solidFill>
                  <a:srgbClr val="FF443A"/>
                </a:solidFill>
                <a:latin typeface="Onest"/>
              </a:rPr>
              <a:t>Windows 11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CPU whisper.cpp works natively — stepping stone to NPU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HailoRT now builds natively — COM header workaround needed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Cross-compilation for arm64 requires WSL2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HailoRT PCIe driver unavailable under WSL2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011680"/>
            <a:ext cx="2304288" cy="3931920"/>
          </a:xfrm>
          <a:prstGeom prst="roundRect">
            <a:avLst/>
          </a:prstGeom>
          <a:solidFill>
            <a:srgbClr val="242422"/>
          </a:solidFill>
          <a:ln w="9525">
            <a:solidFill>
              <a:srgbClr val="5E5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03320" y="2157984"/>
            <a:ext cx="365760" cy="347472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Onest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2212848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C0C0BB"/>
                </a:solidFill>
                <a:latin typeface="Onest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761488"/>
            <a:ext cx="2011680" cy="30358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Onest SemiBold"/>
              </a:rPr>
              <a:t>Ubuntu Host</a:t>
            </a:r>
          </a:p>
          <a:p>
            <a:pPr algn="l"/>
            <a:r>
              <a:rPr sz="900">
                <a:solidFill>
                  <a:srgbClr val="FF443A"/>
                </a:solidFill>
                <a:latin typeface="Onest"/>
              </a:rPr>
              <a:t>Native Linux or WSL2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Uses apt multiarch packages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Cross-compiles for Ubuntu arm64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Links the HailoRT arm64 sysroot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Cross-compiles Hailo binary for RPi5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2011680"/>
            <a:ext cx="2304288" cy="3931920"/>
          </a:xfrm>
          <a:prstGeom prst="roundRect">
            <a:avLst/>
          </a:prstGeom>
          <a:solidFill>
            <a:srgbClr val="242422"/>
          </a:solidFill>
          <a:ln w="9525">
            <a:solidFill>
              <a:srgbClr val="5E5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2157984"/>
            <a:ext cx="365760" cy="347472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Onest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212848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C0C0BB"/>
                </a:solidFill>
                <a:latin typeface="Onest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761488"/>
            <a:ext cx="2011680" cy="30358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Onest SemiBold"/>
              </a:rPr>
              <a:t>Ubuntu Target</a:t>
            </a:r>
          </a:p>
          <a:p>
            <a:pPr algn="l"/>
            <a:r>
              <a:rPr sz="900">
                <a:solidFill>
                  <a:srgbClr val="FF443A"/>
                </a:solidFill>
                <a:latin typeface="Onest"/>
              </a:rPr>
              <a:t>Raspberry Pi 5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Runs the Linux arm64 bridge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Hailo-10H over PCIe via Geekworm X1001 hat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CPU/NPU benchmarks matter most here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Same NPU on host and target is key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2" y="2011680"/>
            <a:ext cx="2304288" cy="3931920"/>
          </a:xfrm>
          <a:prstGeom prst="roundRect">
            <a:avLst/>
          </a:prstGeom>
          <a:solidFill>
            <a:srgbClr val="242422"/>
          </a:solidFill>
          <a:ln w="9525">
            <a:solidFill>
              <a:srgbClr val="5E5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64040" y="2157984"/>
            <a:ext cx="365760" cy="347472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Onest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2952" y="2212848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C0C0BB"/>
                </a:solidFill>
                <a:latin typeface="Onest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2761488"/>
            <a:ext cx="2011680" cy="30358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Onest SemiBold"/>
              </a:rPr>
              <a:t>QNX Target</a:t>
            </a:r>
          </a:p>
          <a:p>
            <a:pPr algn="l"/>
            <a:r>
              <a:rPr sz="900">
                <a:solidFill>
                  <a:srgbClr val="FF443A"/>
                </a:solidFill>
                <a:latin typeface="Onest"/>
              </a:rPr>
              <a:t>Raspberry Pi 5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Runs SurgeXT on QNX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Uses the QNX cross SDK</a:t>
            </a:r>
          </a:p>
          <a:p>
            <a:pPr algn="l"/>
            <a:r>
              <a:rPr sz="900">
                <a:solidFill>
                  <a:srgbClr val="C0C0BB"/>
                </a:solidFill>
                <a:latin typeface="Onest"/>
              </a:rPr>
              <a:t>Keeps the same host-first workflow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962656" y="3044952"/>
            <a:ext cx="502920" cy="256032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5843016" y="3044952"/>
            <a:ext cx="502920" cy="256032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732520" y="3044952"/>
            <a:ext cx="502920" cy="256032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All Fits Together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25196" y="2788920"/>
            <a:ext cx="1508760" cy="74980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Voice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91156" y="2788920"/>
            <a:ext cx="1508760" cy="749808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Whisper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Hailo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7116" y="2788920"/>
            <a:ext cx="1508760" cy="74980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Prog +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Bank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3076" y="2788920"/>
            <a:ext cx="1508760" cy="74980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MIDI &gt; OSC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Bridge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89036" y="2788920"/>
            <a:ext cx="1508760" cy="749808"/>
          </a:xfrm>
          <a:prstGeom prst="roundRect">
            <a:avLst/>
          </a:prstGeom>
          <a:solidFill>
            <a:srgbClr val="85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SurgeXT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54996" y="2788920"/>
            <a:ext cx="1508760" cy="74980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Audio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Output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70532" y="3063239"/>
            <a:ext cx="384048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936492" y="3063239"/>
            <a:ext cx="384048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868411" y="3063239"/>
            <a:ext cx="384048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834372" y="3063239"/>
            <a:ext cx="384048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865876" y="3163824"/>
            <a:ext cx="164592" cy="0"/>
          </a:xfrm>
          <a:prstGeom prst="line">
            <a:avLst/>
          </a:prstGeom>
          <a:ln w="1905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0468" y="3163824"/>
            <a:ext cx="0" cy="667511"/>
          </a:xfrm>
          <a:prstGeom prst="line">
            <a:avLst/>
          </a:prstGeom>
          <a:ln w="1905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0468" y="3831335"/>
            <a:ext cx="3012948" cy="0"/>
          </a:xfrm>
          <a:prstGeom prst="line">
            <a:avLst/>
          </a:prstGeom>
          <a:ln w="1905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043416" y="3538727"/>
            <a:ext cx="0" cy="292608"/>
          </a:xfrm>
          <a:prstGeom prst="line">
            <a:avLst/>
          </a:prstGeom>
          <a:ln w="19050">
            <a:solidFill>
              <a:srgbClr val="C0C0B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60436" y="2313432"/>
            <a:ext cx="0" cy="1700783"/>
          </a:xfrm>
          <a:prstGeom prst="line">
            <a:avLst/>
          </a:prstGeom>
          <a:ln w="19050">
            <a:solidFill>
              <a:srgbClr val="8C6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5196" y="2313432"/>
            <a:ext cx="76352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0C0BB"/>
                </a:solidFill>
                <a:latin typeface="Onest"/>
              </a:rPr>
              <a:t>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6156" y="2313432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0C0BB"/>
                </a:solidFill>
                <a:latin typeface="Onest"/>
              </a:rPr>
              <a:t>TARGET  (QNX / RPi5)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Full System on Target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25196" y="2788920"/>
            <a:ext cx="1508760" cy="74980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Voice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91156" y="2788920"/>
            <a:ext cx="1508760" cy="749808"/>
          </a:xfrm>
          <a:prstGeom prst="roundRect">
            <a:avLst/>
          </a:prstGeom>
          <a:solidFill>
            <a:srgbClr val="FF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Whisper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Hailo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7116" y="2788920"/>
            <a:ext cx="1508760" cy="74980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Prog +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Bank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3076" y="2788920"/>
            <a:ext cx="1508760" cy="74980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MIDI &gt; OSC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Bridge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89036" y="2788920"/>
            <a:ext cx="1508760" cy="749808"/>
          </a:xfrm>
          <a:prstGeom prst="roundRect">
            <a:avLst/>
          </a:prstGeom>
          <a:solidFill>
            <a:srgbClr val="85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SurgeXT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54996" y="2788920"/>
            <a:ext cx="1508760" cy="749808"/>
          </a:xfrm>
          <a:prstGeom prst="roundRect">
            <a:avLst/>
          </a:prstGeom>
          <a:solidFill>
            <a:srgbClr val="5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Audio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Onest"/>
              </a:rPr>
              <a:t>Output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70532" y="3063239"/>
            <a:ext cx="384048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936492" y="3063239"/>
            <a:ext cx="384048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868411" y="3063239"/>
            <a:ext cx="384048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834372" y="3063239"/>
            <a:ext cx="384048" cy="201168"/>
          </a:xfrm>
          <a:prstGeom prst="rightArrow">
            <a:avLst/>
          </a:prstGeom>
          <a:solidFill>
            <a:srgbClr val="C0C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865876" y="3163824"/>
            <a:ext cx="164592" cy="0"/>
          </a:xfrm>
          <a:prstGeom prst="line">
            <a:avLst/>
          </a:prstGeom>
          <a:ln w="1905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0468" y="3163824"/>
            <a:ext cx="0" cy="667511"/>
          </a:xfrm>
          <a:prstGeom prst="line">
            <a:avLst/>
          </a:prstGeom>
          <a:ln w="1905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0468" y="3831335"/>
            <a:ext cx="3012948" cy="0"/>
          </a:xfrm>
          <a:prstGeom prst="line">
            <a:avLst/>
          </a:prstGeom>
          <a:ln w="19050">
            <a:solidFill>
              <a:srgbClr val="C0C0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043416" y="3538727"/>
            <a:ext cx="0" cy="292608"/>
          </a:xfrm>
          <a:prstGeom prst="line">
            <a:avLst/>
          </a:prstGeom>
          <a:ln w="19050">
            <a:solidFill>
              <a:srgbClr val="C0C0B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5196" y="2313432"/>
            <a:ext cx="113385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0C0BB"/>
                </a:solidFill>
                <a:latin typeface="Onest"/>
              </a:rPr>
              <a:t>TARGET  (QNX / RPi5)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Section 6.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R&amp;D to Production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DataBridge: Exercise in Adapting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lvl="1"/>
            <a:r>
              <a:t>The problem</a:t>
            </a:r>
          </a:p>
          <a:p>
            <a:pPr lvl="2"/>
            <a:r>
              <a:t>QNX has no MIDI stack — OSC is a closer fit on automotive</a:t>
            </a:r>
          </a:p>
          <a:p>
            <a:pPr lvl="2"/>
            <a:r>
              <a:t>Automotive protocol adapters are routine (CAN, AWE, RCS/ACS)</a:t>
            </a:r>
          </a:p>
          <a:p>
            <a:pPr lvl="2"/>
            <a:r>
              <a:t>Needed a way to feed live control data to SurgeXT on target</a:t>
            </a:r>
          </a:p>
          <a:p>
            <a:pPr lvl="2"/>
            <a:r>
              <a:t>Building a MIDI→OSC bridge was a practical exercise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lvl="1"/>
            <a:r>
              <a:t>What it is (and isn't)</a:t>
            </a:r>
          </a:p>
          <a:p>
            <a:pPr lvl="2"/>
            <a:r>
              <a:t>VST3 plugin: translates MIDI CC into OSC messages</a:t>
            </a:r>
          </a:p>
          <a:p>
            <a:pPr lvl="2"/>
            <a:r>
              <a:t>Convenient for testing AVAS/ESE DSP using MIDI via DAW</a:t>
            </a:r>
          </a:p>
          <a:p>
            <a:pPr lvl="2"/>
            <a:r>
              <a:t>Not a production tool — utility that taught OSC and the protocol layer</a:t>
            </a:r>
          </a:p>
          <a:p>
            <a:pPr lvl="2"/>
            <a:r>
              <a:t>Understand generalization of message protocol adapters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pic>
        <p:nvPicPr>
          <p:cNvPr id="6" name="Picture 5" descr="DataBridge.png"/>
          <p:cNvPicPr>
            <a:picLocks noChangeAspect="1"/>
          </p:cNvPicPr>
          <p:nvPr/>
        </p:nvPicPr>
        <p:blipFill>
          <a:blip r:embed="rId2"/>
          <a:srcRect b="15157"/>
          <a:stretch>
            <a:fillRect/>
          </a:stretch>
        </p:blipFill>
        <p:spPr>
          <a:xfrm>
            <a:off x="4037076" y="3931920"/>
            <a:ext cx="411480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VREngine: Voice Commands on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lvl="1"/>
            <a:r>
              <a:t>What it demonstrates</a:t>
            </a:r>
          </a:p>
          <a:p>
            <a:pPr lvl="2"/>
            <a:r>
              <a:t>Always-on voice recognition at automotive latency budgets</a:t>
            </a:r>
          </a:p>
          <a:p>
            <a:pPr lvl="2"/>
            <a:r>
              <a:t>Whisper on Hailo NPU: ~300 ms vs ~3 s on CPU</a:t>
            </a:r>
          </a:p>
          <a:p>
            <a:pPr lvl="2"/>
            <a:r>
              <a:t>Mock of tiny part of automotive head unit dashboard</a:t>
            </a:r>
          </a:p>
          <a:p>
            <a:pPr lvl="2"/>
            <a:r>
              <a:t>Keyword match routes commands to SurgeXT patch loads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lvl="1"/>
            <a:r>
              <a:t>The sound profile demo</a:t>
            </a:r>
          </a:p>
          <a:p>
            <a:pPr lvl="2"/>
            <a:r>
              <a:t>Say "ice" → SurgeXT loads ICE patch</a:t>
            </a:r>
          </a:p>
          <a:p>
            <a:pPr lvl="2"/>
            <a:r>
              <a:t>Say "modern" → SurgeXT loads Modern patch</a:t>
            </a:r>
          </a:p>
          <a:p>
            <a:pPr lvl="2"/>
            <a:r>
              <a:t>Manual toggle buttons for user touchscreen — same OSC route regardless</a:t>
            </a:r>
          </a:p>
          <a:p>
            <a:pPr lvl="2"/>
            <a:r>
              <a:t>Runs on host for dev; cross-compiles to RPi5/QNX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GENISYS: Talk to Your Entire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t>Jason's dream is finally possible in 2026</a:t>
            </a:r>
          </a:p>
          <a:p>
            <a:pPr lvl="2"/>
            <a:r>
              <a:t>A Raspberry Pi that knows your entire studio</a:t>
            </a:r>
          </a:p>
          <a:p>
            <a:pPr lvl="2"/>
            <a:r>
              <a:t>Any input (MIDI, voice, UI) routed to any destination</a:t>
            </a:r>
          </a:p>
          <a:p>
            <a:pPr lvl="2"/>
            <a:r>
              <a:t>Studio Builder wizard defines your room once</a:t>
            </a:r>
          </a:p>
          <a:p>
            <a:pPr lvl="2"/>
            <a:r>
              <a:t>What we have right now: 'OSC Learn' for SurgeXT Standalone, MIDI-OSC and Voice-OSC bindings</a:t>
            </a:r>
          </a:p>
          <a:p>
            <a:pPr lvl="2"/>
            <a:r>
              <a:t>Down the line: Intent -&gt; Parameter Space — tweak your tracks by describing what you want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Onest SemiBold"/>
              </a:rPr>
              <a:t>Why don’t we use AI to build tools that help human artists and musicians make even more art and music that actually moves our souls?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C0C0BB"/>
                </a:solidFill>
                <a:latin typeface="Onest"/>
              </a:rPr>
              <a:t>Looking for Open-Source Developers to contribute to GENISYS — contact me to get in touch!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Dedicated to Jason Dasent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619963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C0C0BB"/>
                </a:solidFill>
                <a:latin typeface="Onest"/>
                <a:hlinkClick r:id="rId2"/>
              </a:rPr>
              <a:t>jasondasent.com</a:t>
            </a:r>
          </a:p>
        </p:txBody>
      </p:sp>
      <p:pic>
        <p:nvPicPr>
          <p:cNvPr id="6" name="Picture 5" descr="JasonDas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197962"/>
            <a:ext cx="2926080" cy="281879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/>
            <a:r>
              <a:t>Kieran Coulter</a:t>
            </a:r>
          </a:p>
          <a:p>
            <a:pPr lvl="1"/>
            <a:r>
              <a:t>Principal Systems Software Engineer - Audio</a:t>
            </a:r>
          </a:p>
          <a:p>
            <a:pPr lvl="2"/>
            <a:r>
              <a:t>GitHub	</a:t>
            </a:r>
            <a:r>
              <a:rPr>
                <a:hlinkClick r:id="rId2"/>
              </a:rPr>
              <a:t>https://github.com/kcoul</a:t>
            </a:r>
          </a:p>
          <a:p>
            <a:pPr lvl="2"/>
            <a:r>
              <a:t>E-Mail	kieran.coulter@gmail.com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pic>
        <p:nvPicPr>
          <p:cNvPr id="5" name="Picture 4" descr="KieranCoul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530" y="620712"/>
            <a:ext cx="1645714" cy="230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NX | Light">
  <a:themeElements>
    <a:clrScheme name="QNX">
      <a:dk1>
        <a:srgbClr val="000000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Sand Accent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</a:custClrLst>
  <a:extLst>
    <a:ext uri="{05A4C25C-085E-4340-85A3-A5531E510DB2}">
      <thm15:themeFamily xmlns:thm15="http://schemas.microsoft.com/office/thememl/2012/main" name="K16_QNX_PPT_Master_V11_Logo-Update.potx" id="{1D377349-05AD-401C-AC33-CE700464C88A}" vid="{DDEE9D2A-EC75-47C4-BFED-CE5330A0705A}"/>
    </a:ext>
  </a:extLst>
</a:theme>
</file>

<file path=ppt/theme/theme2.xml><?xml version="1.0" encoding="utf-8"?>
<a:theme xmlns:a="http://schemas.openxmlformats.org/drawingml/2006/main" name="QNX | Dark">
  <a:themeElements>
    <a:clrScheme name="QNX | Dark">
      <a:dk1>
        <a:srgbClr val="FFFFFF"/>
      </a:dk1>
      <a:lt1>
        <a:srgbClr val="000000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Sand Accent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</a:custClrLst>
  <a:extLst>
    <a:ext uri="{05A4C25C-085E-4340-85A3-A5531E510DB2}">
      <thm15:themeFamily xmlns:thm15="http://schemas.microsoft.com/office/thememl/2012/main" name="K16_QNX_PPT_Master_V11_Logo-Update.potx" id="{1D377349-05AD-401C-AC33-CE700464C88A}" vid="{D73E6F58-84A9-46CC-8B6D-5741498EDC54}"/>
    </a:ext>
  </a:extLst>
</a:theme>
</file>

<file path=ppt/theme/theme3.xml><?xml version="1.0" encoding="utf-8"?>
<a:theme xmlns:a="http://schemas.openxmlformats.org/drawingml/2006/main" name="Office">
  <a:themeElements>
    <a:clrScheme name="QNX">
      <a:dk1>
        <a:srgbClr val="000000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QNX">
      <a:dk1>
        <a:srgbClr val="000000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1eb590-c3f5-486c-a63a-babbb3f25e79" xsi:nil="true"/>
    <lcf76f155ced4ddcb4097134ff3c332f xmlns="b9165fb5-1dcd-4bf7-b2f8-16251842b2e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8BBCC432973946B9C1926362D003EB" ma:contentTypeVersion="14" ma:contentTypeDescription="Create a new document." ma:contentTypeScope="" ma:versionID="0660e0bac1a6f10ac7a702b433060578">
  <xsd:schema xmlns:xsd="http://www.w3.org/2001/XMLSchema" xmlns:xs="http://www.w3.org/2001/XMLSchema" xmlns:p="http://schemas.microsoft.com/office/2006/metadata/properties" xmlns:ns2="b9165fb5-1dcd-4bf7-b2f8-16251842b2e1" xmlns:ns3="291eb590-c3f5-486c-a63a-babbb3f25e79" targetNamespace="http://schemas.microsoft.com/office/2006/metadata/properties" ma:root="true" ma:fieldsID="2c2a28cb9a2922afafa26bd2dde6a5a1" ns2:_="" ns3:_="">
    <xsd:import namespace="b9165fb5-1dcd-4bf7-b2f8-16251842b2e1"/>
    <xsd:import namespace="291eb590-c3f5-486c-a63a-babbb3f25e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65fb5-1dcd-4bf7-b2f8-16251842b2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fbd4aa-c6d2-4b2d-b985-fe2a529cec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1eb590-c3f5-486c-a63a-babbb3f25e7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c298c13-112a-4ce5-b59c-ff4b31fb8fef}" ma:internalName="TaxCatchAll" ma:showField="CatchAllData" ma:web="291eb590-c3f5-486c-a63a-babbb3f25e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1C58F7-F9BC-44EA-BC5B-345288656F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BF049E-CC88-4DF7-A165-CA575467262C}">
  <ds:schemaRefs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95148828-70f1-4198-88d6-d3c4d23a4785"/>
    <ds:schemaRef ds:uri="http://schemas.openxmlformats.org/package/2006/metadata/core-properties"/>
    <ds:schemaRef ds:uri="http://schemas.microsoft.com/office/2006/documentManagement/types"/>
    <ds:schemaRef ds:uri="d1da8d60-39fa-4aec-bd58-874057241265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E9F781E-3BFD-4348-950A-A91177648F7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981</Words>
  <Application>Microsoft Office PowerPoint</Application>
  <PresentationFormat>Breitbild</PresentationFormat>
  <Paragraphs>149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14</vt:i4>
      </vt:variant>
    </vt:vector>
  </HeadingPairs>
  <TitlesOfParts>
    <vt:vector size="23" baseType="lpstr">
      <vt:lpstr>Arial</vt:lpstr>
      <vt:lpstr>Onest</vt:lpstr>
      <vt:lpstr>Onest ExtraBold</vt:lpstr>
      <vt:lpstr>Onest Medium</vt:lpstr>
      <vt:lpstr>Onest SemiBold</vt:lpstr>
      <vt:lpstr>Symbol</vt:lpstr>
      <vt:lpstr>Wingdings</vt:lpstr>
      <vt:lpstr>QNX | Light</vt:lpstr>
      <vt:lpstr>QNX | Dark</vt:lpstr>
      <vt:lpstr>Copy &amp; Paste Slide | Light</vt:lpstr>
      <vt:lpstr>Copy &amp; Paste Slide | Dark</vt:lpstr>
      <vt:lpstr>Title of the presentation  one or two lines</vt:lpstr>
      <vt:lpstr>Title of the presentation  one or two lines</vt:lpstr>
      <vt:lpstr>Agenda</vt:lpstr>
      <vt:lpstr>Chapter title</vt:lpstr>
      <vt:lpstr>Title of the slide</vt:lpstr>
      <vt:lpstr>Thank you</vt:lpstr>
      <vt:lpstr>Title of the presentation  one or two lines</vt:lpstr>
      <vt:lpstr>Title of the presentation  one or two lines</vt:lpstr>
      <vt:lpstr>Agenda</vt:lpstr>
      <vt:lpstr>Chapter title</vt:lpstr>
      <vt:lpstr>Title of the slide</vt:lpstr>
      <vt:lpstr>Thank you</vt:lpstr>
    </vt:vector>
  </TitlesOfParts>
  <Company>BlackBerry UK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QNX PPT Master</dc:title>
  <dc:creator>QNX</dc:creator>
  <dc:description>Optimized for MS Office 365</dc:description>
  <cp:lastModifiedBy>Joanna Zoltowska</cp:lastModifiedBy>
  <cp:revision>301</cp:revision>
  <dcterms:created xsi:type="dcterms:W3CDTF">2017-04-13T13:30:05Z</dcterms:created>
  <dcterms:modified xsi:type="dcterms:W3CDTF">2025-07-11T08:58:39Z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0x010100968BBCC432973946B9C1926362D003EB</vt:lpwstr>
  </property>
</Properties>
</file>